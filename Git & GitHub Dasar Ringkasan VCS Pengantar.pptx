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2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0456244" y="-1738160"/>
            <a:ext cx="9869468" cy="98694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10938568" y="-1255836"/>
            <a:ext cx="8904819" cy="89048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nvGrpSpPr>
          <p:cNvPr name="Group 7" id="7"/>
          <p:cNvGrpSpPr/>
          <p:nvPr/>
        </p:nvGrpSpPr>
        <p:grpSpPr>
          <a:xfrm rot="0">
            <a:off x="1028700" y="8131307"/>
            <a:ext cx="13554186" cy="3086100"/>
            <a:chOff x="0" y="0"/>
            <a:chExt cx="3569827" cy="812800"/>
          </a:xfrm>
        </p:grpSpPr>
        <p:sp>
          <p:nvSpPr>
            <p:cNvPr name="Freeform 8" id="8"/>
            <p:cNvSpPr/>
            <p:nvPr/>
          </p:nvSpPr>
          <p:spPr>
            <a:xfrm flipH="false" flipV="false" rot="0">
              <a:off x="0" y="0"/>
              <a:ext cx="3569827" cy="812800"/>
            </a:xfrm>
            <a:custGeom>
              <a:avLst/>
              <a:gdLst/>
              <a:ahLst/>
              <a:cxnLst/>
              <a:rect r="r" b="b" t="t" l="l"/>
              <a:pathLst>
                <a:path h="812800" w="3569827">
                  <a:moveTo>
                    <a:pt x="25132" y="0"/>
                  </a:moveTo>
                  <a:lnTo>
                    <a:pt x="3544694" y="0"/>
                  </a:lnTo>
                  <a:cubicBezTo>
                    <a:pt x="3558575" y="0"/>
                    <a:pt x="3569827" y="11252"/>
                    <a:pt x="3569827" y="25132"/>
                  </a:cubicBezTo>
                  <a:lnTo>
                    <a:pt x="3569827" y="787668"/>
                  </a:lnTo>
                  <a:cubicBezTo>
                    <a:pt x="3569827" y="801548"/>
                    <a:pt x="3558575" y="812800"/>
                    <a:pt x="3544694" y="812800"/>
                  </a:cubicBezTo>
                  <a:lnTo>
                    <a:pt x="25132" y="812800"/>
                  </a:lnTo>
                  <a:cubicBezTo>
                    <a:pt x="11252" y="812800"/>
                    <a:pt x="0" y="801548"/>
                    <a:pt x="0" y="787668"/>
                  </a:cubicBezTo>
                  <a:lnTo>
                    <a:pt x="0" y="25132"/>
                  </a:lnTo>
                  <a:cubicBezTo>
                    <a:pt x="0" y="11252"/>
                    <a:pt x="11252" y="0"/>
                    <a:pt x="25132" y="0"/>
                  </a:cubicBezTo>
                  <a:close/>
                </a:path>
              </a:pathLst>
            </a:custGeom>
            <a:solidFill>
              <a:srgbClr val="FFFFFF"/>
            </a:solidFill>
          </p:spPr>
        </p:sp>
        <p:sp>
          <p:nvSpPr>
            <p:cNvPr name="TextBox 9" id="9"/>
            <p:cNvSpPr txBox="true"/>
            <p:nvPr/>
          </p:nvSpPr>
          <p:spPr>
            <a:xfrm>
              <a:off x="0" y="-38100"/>
              <a:ext cx="3569827" cy="850900"/>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9879815" y="4350432"/>
            <a:ext cx="4787012" cy="478701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0301447" y="4772064"/>
            <a:ext cx="3943748" cy="394374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grpSp>
        <p:nvGrpSpPr>
          <p:cNvPr name="Group 15" id="15"/>
          <p:cNvGrpSpPr/>
          <p:nvPr/>
        </p:nvGrpSpPr>
        <p:grpSpPr>
          <a:xfrm rot="-10800000">
            <a:off x="-544827" y="7109723"/>
            <a:ext cx="6251202" cy="539260"/>
            <a:chOff x="0" y="0"/>
            <a:chExt cx="1646407" cy="142027"/>
          </a:xfrm>
        </p:grpSpPr>
        <p:sp>
          <p:nvSpPr>
            <p:cNvPr name="Freeform 16" id="16"/>
            <p:cNvSpPr/>
            <p:nvPr/>
          </p:nvSpPr>
          <p:spPr>
            <a:xfrm flipH="false" flipV="false" rot="0">
              <a:off x="0" y="0"/>
              <a:ext cx="1646407" cy="142027"/>
            </a:xfrm>
            <a:custGeom>
              <a:avLst/>
              <a:gdLst/>
              <a:ahLst/>
              <a:cxnLst/>
              <a:rect r="r" b="b" t="t" l="l"/>
              <a:pathLst>
                <a:path h="142027" w="1646407">
                  <a:moveTo>
                    <a:pt x="71014" y="0"/>
                  </a:moveTo>
                  <a:lnTo>
                    <a:pt x="1575394" y="0"/>
                  </a:lnTo>
                  <a:cubicBezTo>
                    <a:pt x="1614613" y="0"/>
                    <a:pt x="1646407" y="31794"/>
                    <a:pt x="1646407" y="71014"/>
                  </a:cubicBezTo>
                  <a:lnTo>
                    <a:pt x="1646407" y="71014"/>
                  </a:lnTo>
                  <a:cubicBezTo>
                    <a:pt x="1646407" y="89848"/>
                    <a:pt x="1638926" y="107910"/>
                    <a:pt x="1625608" y="121228"/>
                  </a:cubicBezTo>
                  <a:cubicBezTo>
                    <a:pt x="1612290" y="134546"/>
                    <a:pt x="1594228" y="142027"/>
                    <a:pt x="1575394" y="142027"/>
                  </a:cubicBezTo>
                  <a:lnTo>
                    <a:pt x="71014" y="142027"/>
                  </a:lnTo>
                  <a:cubicBezTo>
                    <a:pt x="31794" y="142027"/>
                    <a:pt x="0" y="110233"/>
                    <a:pt x="0" y="71014"/>
                  </a:cubicBezTo>
                  <a:lnTo>
                    <a:pt x="0" y="71014"/>
                  </a:lnTo>
                  <a:cubicBezTo>
                    <a:pt x="0" y="31794"/>
                    <a:pt x="31794" y="0"/>
                    <a:pt x="71014" y="0"/>
                  </a:cubicBezTo>
                  <a:close/>
                </a:path>
              </a:pathLst>
            </a:custGeom>
            <a:solidFill>
              <a:srgbClr val="01B7AA"/>
            </a:solidFill>
          </p:spPr>
        </p:sp>
        <p:sp>
          <p:nvSpPr>
            <p:cNvPr name="TextBox 17" id="17"/>
            <p:cNvSpPr txBox="true"/>
            <p:nvPr/>
          </p:nvSpPr>
          <p:spPr>
            <a:xfrm>
              <a:off x="0" y="38100"/>
              <a:ext cx="1646407" cy="103927"/>
            </a:xfrm>
            <a:prstGeom prst="rect">
              <a:avLst/>
            </a:prstGeom>
          </p:spPr>
          <p:txBody>
            <a:bodyPr anchor="ctr" rtlCol="false" tIns="50800" lIns="50800" bIns="50800" rIns="50800"/>
            <a:lstStyle/>
            <a:p>
              <a:pPr algn="ctr" marL="0" indent="0" lvl="0">
                <a:lnSpc>
                  <a:spcPts val="2789"/>
                </a:lnSpc>
              </a:pPr>
            </a:p>
          </p:txBody>
        </p:sp>
      </p:grpSp>
      <p:sp>
        <p:nvSpPr>
          <p:cNvPr name="Freeform 18" id="18"/>
          <p:cNvSpPr/>
          <p:nvPr/>
        </p:nvSpPr>
        <p:spPr>
          <a:xfrm flipH="false" flipV="false" rot="0">
            <a:off x="1771773" y="8416771"/>
            <a:ext cx="598081" cy="598081"/>
          </a:xfrm>
          <a:custGeom>
            <a:avLst/>
            <a:gdLst/>
            <a:ahLst/>
            <a:cxnLst/>
            <a:rect r="r" b="b" t="t" l="l"/>
            <a:pathLst>
              <a:path h="598081" w="598081">
                <a:moveTo>
                  <a:pt x="0" y="0"/>
                </a:moveTo>
                <a:lnTo>
                  <a:pt x="598081" y="0"/>
                </a:lnTo>
                <a:lnTo>
                  <a:pt x="598081" y="598082"/>
                </a:lnTo>
                <a:lnTo>
                  <a:pt x="0" y="5980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771773" y="1470966"/>
            <a:ext cx="598081" cy="407783"/>
          </a:xfrm>
          <a:custGeom>
            <a:avLst/>
            <a:gdLst/>
            <a:ahLst/>
            <a:cxnLst/>
            <a:rect r="r" b="b" t="t" l="l"/>
            <a:pathLst>
              <a:path h="407783" w="598081">
                <a:moveTo>
                  <a:pt x="0" y="0"/>
                </a:moveTo>
                <a:lnTo>
                  <a:pt x="598081" y="0"/>
                </a:lnTo>
                <a:lnTo>
                  <a:pt x="598081" y="407783"/>
                </a:lnTo>
                <a:lnTo>
                  <a:pt x="0" y="4077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7407460" y="6033618"/>
            <a:ext cx="1736540" cy="950361"/>
          </a:xfrm>
          <a:custGeom>
            <a:avLst/>
            <a:gdLst/>
            <a:ahLst/>
            <a:cxnLst/>
            <a:rect r="r" b="b" t="t" l="l"/>
            <a:pathLst>
              <a:path h="950361" w="1736540">
                <a:moveTo>
                  <a:pt x="0" y="0"/>
                </a:moveTo>
                <a:lnTo>
                  <a:pt x="1736540" y="0"/>
                </a:lnTo>
                <a:lnTo>
                  <a:pt x="1736540" y="950360"/>
                </a:lnTo>
                <a:lnTo>
                  <a:pt x="0" y="9503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0">
            <a:off x="1771773" y="2135924"/>
            <a:ext cx="8621800" cy="2314263"/>
          </a:xfrm>
          <a:prstGeom prst="rect">
            <a:avLst/>
          </a:prstGeom>
        </p:spPr>
        <p:txBody>
          <a:bodyPr anchor="t" rtlCol="false" tIns="0" lIns="0" bIns="0" rIns="0">
            <a:spAutoFit/>
          </a:bodyPr>
          <a:lstStyle/>
          <a:p>
            <a:pPr algn="l" marL="0" indent="0" lvl="0">
              <a:lnSpc>
                <a:spcPts val="8702"/>
              </a:lnSpc>
            </a:pPr>
            <a:r>
              <a:rPr lang="en-US" b="true" sz="8288" spc="-596">
                <a:solidFill>
                  <a:srgbClr val="FFFFFF"/>
                </a:solidFill>
                <a:latin typeface="Poppins Bold"/>
                <a:ea typeface="Poppins Bold"/>
                <a:cs typeface="Poppins Bold"/>
                <a:sym typeface="Poppins Bold"/>
              </a:rPr>
              <a:t>GIT &amp; GITHUB DASAR</a:t>
            </a:r>
          </a:p>
        </p:txBody>
      </p:sp>
      <p:sp>
        <p:nvSpPr>
          <p:cNvPr name="TextBox 22" id="22"/>
          <p:cNvSpPr txBox="true"/>
          <p:nvPr/>
        </p:nvSpPr>
        <p:spPr>
          <a:xfrm rot="0">
            <a:off x="1771773" y="5784790"/>
            <a:ext cx="5790349" cy="838204"/>
          </a:xfrm>
          <a:prstGeom prst="rect">
            <a:avLst/>
          </a:prstGeom>
        </p:spPr>
        <p:txBody>
          <a:bodyPr anchor="t" rtlCol="false" tIns="0" lIns="0" bIns="0" rIns="0">
            <a:spAutoFit/>
          </a:bodyPr>
          <a:lstStyle/>
          <a:p>
            <a:pPr algn="l" marL="0" indent="0" lvl="0">
              <a:lnSpc>
                <a:spcPts val="3150"/>
              </a:lnSpc>
              <a:spcBef>
                <a:spcPct val="0"/>
              </a:spcBef>
            </a:pPr>
            <a:r>
              <a:rPr lang="en-US" sz="3000" spc="-231">
                <a:solidFill>
                  <a:srgbClr val="FFFFFF"/>
                </a:solidFill>
                <a:latin typeface="Poppins"/>
                <a:ea typeface="Poppins"/>
                <a:cs typeface="Poppins"/>
                <a:sym typeface="Poppins"/>
              </a:rPr>
              <a:t>Materi Pembelajaran Dasar Version Control dan Praktikum GitHub</a:t>
            </a:r>
          </a:p>
        </p:txBody>
      </p:sp>
      <p:sp>
        <p:nvSpPr>
          <p:cNvPr name="TextBox 23" id="23"/>
          <p:cNvSpPr txBox="true"/>
          <p:nvPr/>
        </p:nvSpPr>
        <p:spPr>
          <a:xfrm rot="0">
            <a:off x="1771773" y="7175169"/>
            <a:ext cx="4215331" cy="342686"/>
          </a:xfrm>
          <a:prstGeom prst="rect">
            <a:avLst/>
          </a:prstGeom>
        </p:spPr>
        <p:txBody>
          <a:bodyPr anchor="t" rtlCol="false" tIns="0" lIns="0" bIns="0" rIns="0">
            <a:spAutoFit/>
          </a:bodyPr>
          <a:lstStyle/>
          <a:p>
            <a:pPr algn="l" marL="0" indent="0" lvl="0">
              <a:lnSpc>
                <a:spcPts val="2636"/>
              </a:lnSpc>
              <a:spcBef>
                <a:spcPct val="0"/>
              </a:spcBef>
            </a:pPr>
            <a:r>
              <a:rPr lang="en-US" sz="1883" spc="-37">
                <a:solidFill>
                  <a:srgbClr val="FFFFFF"/>
                </a:solidFill>
                <a:latin typeface="Poppins"/>
                <a:ea typeface="Poppins"/>
                <a:cs typeface="Poppins"/>
                <a:sym typeface="Poppins"/>
              </a:rPr>
              <a:t>Disusun Oleh: Tim HackLab</a:t>
            </a:r>
          </a:p>
        </p:txBody>
      </p:sp>
      <p:sp>
        <p:nvSpPr>
          <p:cNvPr name="TextBox 24" id="24"/>
          <p:cNvSpPr txBox="true"/>
          <p:nvPr/>
        </p:nvSpPr>
        <p:spPr>
          <a:xfrm rot="0">
            <a:off x="2580774" y="8604467"/>
            <a:ext cx="5041539" cy="228674"/>
          </a:xfrm>
          <a:prstGeom prst="rect">
            <a:avLst/>
          </a:prstGeom>
        </p:spPr>
        <p:txBody>
          <a:bodyPr anchor="t" rtlCol="false" tIns="0" lIns="0" bIns="0" rIns="0">
            <a:spAutoFit/>
          </a:bodyPr>
          <a:lstStyle/>
          <a:p>
            <a:pPr algn="l" marL="0" indent="0" lvl="0">
              <a:lnSpc>
                <a:spcPts val="1552"/>
              </a:lnSpc>
            </a:pPr>
            <a:r>
              <a:rPr lang="en-US" sz="1668" spc="123">
                <a:solidFill>
                  <a:srgbClr val="2F2A2A"/>
                </a:solidFill>
                <a:latin typeface="Poppins"/>
                <a:ea typeface="Poppins"/>
                <a:cs typeface="Poppins"/>
                <a:sym typeface="Poppins"/>
              </a:rPr>
              <a:t>github.com/hacklab-git-dasar</a:t>
            </a:r>
          </a:p>
        </p:txBody>
      </p:sp>
      <p:sp>
        <p:nvSpPr>
          <p:cNvPr name="TextBox 25" id="25"/>
          <p:cNvSpPr txBox="true"/>
          <p:nvPr/>
        </p:nvSpPr>
        <p:spPr>
          <a:xfrm rot="0">
            <a:off x="2580774" y="1594697"/>
            <a:ext cx="2262112" cy="259348"/>
          </a:xfrm>
          <a:prstGeom prst="rect">
            <a:avLst/>
          </a:prstGeom>
        </p:spPr>
        <p:txBody>
          <a:bodyPr anchor="t" rtlCol="false" tIns="0" lIns="0" bIns="0" rIns="0">
            <a:spAutoFit/>
          </a:bodyPr>
          <a:lstStyle/>
          <a:p>
            <a:pPr algn="l" marL="0" indent="0" lvl="0">
              <a:lnSpc>
                <a:spcPts val="1861"/>
              </a:lnSpc>
              <a:spcBef>
                <a:spcPct val="0"/>
              </a:spcBef>
            </a:pPr>
            <a:r>
              <a:rPr lang="en-US" sz="1772" spc="-136">
                <a:solidFill>
                  <a:srgbClr val="FFFFFF"/>
                </a:solidFill>
                <a:latin typeface="Poppins"/>
                <a:ea typeface="Poppins"/>
                <a:cs typeface="Poppins"/>
                <a:sym typeface="Poppins"/>
              </a:rPr>
              <a:t>HackLab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85468" y="1759867"/>
            <a:ext cx="14717065" cy="3383633"/>
            <a:chOff x="0" y="0"/>
            <a:chExt cx="3876099" cy="891163"/>
          </a:xfrm>
        </p:grpSpPr>
        <p:sp>
          <p:nvSpPr>
            <p:cNvPr name="Freeform 3" id="3"/>
            <p:cNvSpPr/>
            <p:nvPr/>
          </p:nvSpPr>
          <p:spPr>
            <a:xfrm flipH="false" flipV="false" rot="0">
              <a:off x="0" y="0"/>
              <a:ext cx="3876099" cy="891163"/>
            </a:xfrm>
            <a:custGeom>
              <a:avLst/>
              <a:gdLst/>
              <a:ahLst/>
              <a:cxnLst/>
              <a:rect r="r" b="b" t="t" l="l"/>
              <a:pathLst>
                <a:path h="891163" w="3876099">
                  <a:moveTo>
                    <a:pt x="23146" y="0"/>
                  </a:moveTo>
                  <a:lnTo>
                    <a:pt x="3852953" y="0"/>
                  </a:lnTo>
                  <a:cubicBezTo>
                    <a:pt x="3859092" y="0"/>
                    <a:pt x="3864979" y="2439"/>
                    <a:pt x="3869320" y="6779"/>
                  </a:cubicBezTo>
                  <a:cubicBezTo>
                    <a:pt x="3873661" y="11120"/>
                    <a:pt x="3876099" y="17007"/>
                    <a:pt x="3876099" y="23146"/>
                  </a:cubicBezTo>
                  <a:lnTo>
                    <a:pt x="3876099" y="868016"/>
                  </a:lnTo>
                  <a:cubicBezTo>
                    <a:pt x="3876099" y="874155"/>
                    <a:pt x="3873661" y="880043"/>
                    <a:pt x="3869320" y="884383"/>
                  </a:cubicBezTo>
                  <a:cubicBezTo>
                    <a:pt x="3864979" y="888724"/>
                    <a:pt x="3859092" y="891163"/>
                    <a:pt x="3852953" y="891163"/>
                  </a:cubicBezTo>
                  <a:lnTo>
                    <a:pt x="23146" y="891163"/>
                  </a:lnTo>
                  <a:cubicBezTo>
                    <a:pt x="17007" y="891163"/>
                    <a:pt x="11120" y="888724"/>
                    <a:pt x="6779" y="884383"/>
                  </a:cubicBezTo>
                  <a:cubicBezTo>
                    <a:pt x="2439" y="880043"/>
                    <a:pt x="0" y="874155"/>
                    <a:pt x="0" y="868016"/>
                  </a:cubicBezTo>
                  <a:lnTo>
                    <a:pt x="0" y="23146"/>
                  </a:lnTo>
                  <a:cubicBezTo>
                    <a:pt x="0" y="17007"/>
                    <a:pt x="2439" y="11120"/>
                    <a:pt x="6779" y="6779"/>
                  </a:cubicBezTo>
                  <a:cubicBezTo>
                    <a:pt x="11120" y="2439"/>
                    <a:pt x="17007" y="0"/>
                    <a:pt x="23146" y="0"/>
                  </a:cubicBezTo>
                  <a:close/>
                </a:path>
              </a:pathLst>
            </a:custGeom>
            <a:solidFill>
              <a:srgbClr val="FFFFFF"/>
            </a:solidFill>
          </p:spPr>
        </p:sp>
        <p:sp>
          <p:nvSpPr>
            <p:cNvPr name="TextBox 4" id="4"/>
            <p:cNvSpPr txBox="true"/>
            <p:nvPr/>
          </p:nvSpPr>
          <p:spPr>
            <a:xfrm>
              <a:off x="0" y="-38100"/>
              <a:ext cx="3876099" cy="929263"/>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861145" y="2224815"/>
            <a:ext cx="14565709" cy="1513340"/>
          </a:xfrm>
          <a:prstGeom prst="rect">
            <a:avLst/>
          </a:prstGeom>
        </p:spPr>
        <p:txBody>
          <a:bodyPr anchor="t" rtlCol="false" tIns="0" lIns="0" bIns="0" rIns="0">
            <a:spAutoFit/>
          </a:bodyPr>
          <a:lstStyle/>
          <a:p>
            <a:pPr algn="ctr" marL="0" indent="0" lvl="0">
              <a:lnSpc>
                <a:spcPts val="10784"/>
              </a:lnSpc>
            </a:pPr>
            <a:r>
              <a:rPr lang="en-US" b="true" sz="10270" spc="-739">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APA ITU GIT?</a:t>
            </a:r>
          </a:p>
        </p:txBody>
      </p:sp>
      <p:sp>
        <p:nvSpPr>
          <p:cNvPr name="TextBox 6" id="6"/>
          <p:cNvSpPr txBox="true"/>
          <p:nvPr/>
        </p:nvSpPr>
        <p:spPr>
          <a:xfrm rot="0">
            <a:off x="2654177" y="3893753"/>
            <a:ext cx="12979645" cy="458117"/>
          </a:xfrm>
          <a:prstGeom prst="rect">
            <a:avLst/>
          </a:prstGeom>
        </p:spPr>
        <p:txBody>
          <a:bodyPr anchor="t" rtlCol="false" tIns="0" lIns="0" bIns="0" rIns="0">
            <a:spAutoFit/>
          </a:bodyPr>
          <a:lstStyle/>
          <a:p>
            <a:pPr algn="ctr" marL="0" indent="0" lvl="0">
              <a:lnSpc>
                <a:spcPts val="3200"/>
              </a:lnSpc>
              <a:spcBef>
                <a:spcPct val="0"/>
              </a:spcBef>
            </a:pPr>
            <a:r>
              <a:rPr lang="en-US" sz="3048" spc="-234">
                <a:gradFill>
                  <a:gsLst>
                    <a:gs pos="0">
                      <a:srgbClr val="109590">
                        <a:alpha val="100000"/>
                      </a:srgbClr>
                    </a:gs>
                    <a:gs pos="100000">
                      <a:srgbClr val="0B3450">
                        <a:alpha val="100000"/>
                      </a:srgbClr>
                    </a:gs>
                  </a:gsLst>
                  <a:lin ang="2700000"/>
                </a:gradFill>
                <a:latin typeface="Poppins"/>
                <a:ea typeface="Poppins"/>
                <a:cs typeface="Poppins"/>
                <a:sym typeface="Poppins"/>
              </a:rPr>
              <a:t>Mengenal Version Control System untuk Mengelola Perubahan Project</a:t>
            </a:r>
          </a:p>
        </p:txBody>
      </p:sp>
      <p:sp>
        <p:nvSpPr>
          <p:cNvPr name="TextBox 7" id="7"/>
          <p:cNvSpPr txBox="true"/>
          <p:nvPr/>
        </p:nvSpPr>
        <p:spPr>
          <a:xfrm rot="0">
            <a:off x="2101496" y="5679696"/>
            <a:ext cx="7042504" cy="1222807"/>
          </a:xfrm>
          <a:prstGeom prst="rect">
            <a:avLst/>
          </a:prstGeom>
        </p:spPr>
        <p:txBody>
          <a:bodyPr anchor="t" rtlCol="false" tIns="0" lIns="0" bIns="0" rIns="0">
            <a:spAutoFit/>
          </a:bodyPr>
          <a:lstStyle/>
          <a:p>
            <a:pPr algn="just" marL="0" indent="0" lvl="0">
              <a:lnSpc>
                <a:spcPts val="2426"/>
              </a:lnSpc>
              <a:spcBef>
                <a:spcPct val="0"/>
              </a:spcBef>
            </a:pPr>
            <a:r>
              <a:rPr lang="en-US" sz="1732">
                <a:solidFill>
                  <a:srgbClr val="FFFFFF"/>
                </a:solidFill>
                <a:latin typeface="Poppins"/>
                <a:ea typeface="Poppins"/>
                <a:cs typeface="Poppins"/>
                <a:sym typeface="Poppins"/>
              </a:rPr>
              <a:t>Git adalah Version Control System (VCS) yang digunakan untuk mencatat dan mengelola perubahan pada file atau project secara terstruktur. Dengan Git, setiap perubahan tersimpan dalam riwayat yang lengkap dan dapat dilacak kapan saja.</a:t>
            </a:r>
          </a:p>
        </p:txBody>
      </p:sp>
      <p:sp>
        <p:nvSpPr>
          <p:cNvPr name="TextBox 8" id="8"/>
          <p:cNvSpPr txBox="true"/>
          <p:nvPr/>
        </p:nvSpPr>
        <p:spPr>
          <a:xfrm rot="0">
            <a:off x="2101496" y="7347440"/>
            <a:ext cx="7042504" cy="1222807"/>
          </a:xfrm>
          <a:prstGeom prst="rect">
            <a:avLst/>
          </a:prstGeom>
        </p:spPr>
        <p:txBody>
          <a:bodyPr anchor="t" rtlCol="false" tIns="0" lIns="0" bIns="0" rIns="0">
            <a:spAutoFit/>
          </a:bodyPr>
          <a:lstStyle/>
          <a:p>
            <a:pPr algn="just" marL="0" indent="0" lvl="0">
              <a:lnSpc>
                <a:spcPts val="2426"/>
              </a:lnSpc>
              <a:spcBef>
                <a:spcPct val="0"/>
              </a:spcBef>
            </a:pPr>
            <a:r>
              <a:rPr lang="en-US" sz="1732">
                <a:solidFill>
                  <a:srgbClr val="FFFFFF"/>
                </a:solidFill>
                <a:latin typeface="Poppins"/>
                <a:ea typeface="Poppins"/>
                <a:cs typeface="Poppins"/>
                <a:sym typeface="Poppins"/>
              </a:rPr>
              <a:t>Git membantu proses pengembangan menjadi lebih aman, terorganisir, dan mudah dipantau. Setiap anggota tim dapat bekerja secara bersamaan tanpa khawatir kehilangan perubahan penting.</a:t>
            </a:r>
          </a:p>
        </p:txBody>
      </p:sp>
      <p:sp>
        <p:nvSpPr>
          <p:cNvPr name="Freeform 9" id="9"/>
          <p:cNvSpPr/>
          <p:nvPr/>
        </p:nvSpPr>
        <p:spPr>
          <a:xfrm flipH="false" flipV="false" rot="0">
            <a:off x="9399636" y="4665612"/>
            <a:ext cx="8098517" cy="8128073"/>
          </a:xfrm>
          <a:custGeom>
            <a:avLst/>
            <a:gdLst/>
            <a:ahLst/>
            <a:cxnLst/>
            <a:rect r="r" b="b" t="t" l="l"/>
            <a:pathLst>
              <a:path h="8128073" w="8098517">
                <a:moveTo>
                  <a:pt x="0" y="0"/>
                </a:moveTo>
                <a:lnTo>
                  <a:pt x="8098517" y="0"/>
                </a:lnTo>
                <a:lnTo>
                  <a:pt x="8098517" y="8128074"/>
                </a:lnTo>
                <a:lnTo>
                  <a:pt x="0" y="8128074"/>
                </a:lnTo>
                <a:lnTo>
                  <a:pt x="0" y="0"/>
                </a:lnTo>
                <a:close/>
              </a:path>
            </a:pathLst>
          </a:custGeom>
          <a:blipFill>
            <a:blip r:embed="rId2"/>
            <a:stretch>
              <a:fillRect l="0" t="0" r="0" b="0"/>
            </a:stretch>
          </a:blipFill>
        </p:spPr>
      </p:sp>
      <p:grpSp>
        <p:nvGrpSpPr>
          <p:cNvPr name="Group 10" id="10"/>
          <p:cNvGrpSpPr/>
          <p:nvPr/>
        </p:nvGrpSpPr>
        <p:grpSpPr>
          <a:xfrm rot="0">
            <a:off x="9848789" y="5129543"/>
            <a:ext cx="7200211" cy="72002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0470218" y="5750972"/>
            <a:ext cx="5957353" cy="595735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9144000" y="5090975"/>
            <a:ext cx="11295519" cy="4730727"/>
            <a:chOff x="0" y="0"/>
            <a:chExt cx="2974951" cy="1245953"/>
          </a:xfrm>
        </p:grpSpPr>
        <p:sp>
          <p:nvSpPr>
            <p:cNvPr name="Freeform 3" id="3"/>
            <p:cNvSpPr/>
            <p:nvPr/>
          </p:nvSpPr>
          <p:spPr>
            <a:xfrm flipH="false" flipV="false" rot="0">
              <a:off x="0" y="0"/>
              <a:ext cx="2974952" cy="1245953"/>
            </a:xfrm>
            <a:custGeom>
              <a:avLst/>
              <a:gdLst/>
              <a:ahLst/>
              <a:cxnLst/>
              <a:rect r="r" b="b" t="t" l="l"/>
              <a:pathLst>
                <a:path h="1245953" w="2974952">
                  <a:moveTo>
                    <a:pt x="30157" y="0"/>
                  </a:moveTo>
                  <a:lnTo>
                    <a:pt x="2944794" y="0"/>
                  </a:lnTo>
                  <a:cubicBezTo>
                    <a:pt x="2952792" y="0"/>
                    <a:pt x="2960463" y="3177"/>
                    <a:pt x="2966119" y="8833"/>
                  </a:cubicBezTo>
                  <a:cubicBezTo>
                    <a:pt x="2971774" y="14489"/>
                    <a:pt x="2974952" y="22159"/>
                    <a:pt x="2974952" y="30157"/>
                  </a:cubicBezTo>
                  <a:lnTo>
                    <a:pt x="2974952" y="1215795"/>
                  </a:lnTo>
                  <a:cubicBezTo>
                    <a:pt x="2974952" y="1223794"/>
                    <a:pt x="2971774" y="1231464"/>
                    <a:pt x="2966119" y="1237120"/>
                  </a:cubicBezTo>
                  <a:cubicBezTo>
                    <a:pt x="2960463" y="1242775"/>
                    <a:pt x="2952792" y="1245953"/>
                    <a:pt x="2944794" y="1245953"/>
                  </a:cubicBezTo>
                  <a:lnTo>
                    <a:pt x="30157" y="1245953"/>
                  </a:lnTo>
                  <a:cubicBezTo>
                    <a:pt x="22159" y="1245953"/>
                    <a:pt x="14489" y="1242775"/>
                    <a:pt x="8833" y="1237120"/>
                  </a:cubicBezTo>
                  <a:cubicBezTo>
                    <a:pt x="3177" y="1231464"/>
                    <a:pt x="0" y="1223794"/>
                    <a:pt x="0" y="1215795"/>
                  </a:cubicBezTo>
                  <a:lnTo>
                    <a:pt x="0" y="30157"/>
                  </a:lnTo>
                  <a:cubicBezTo>
                    <a:pt x="0" y="22159"/>
                    <a:pt x="3177" y="14489"/>
                    <a:pt x="8833" y="8833"/>
                  </a:cubicBezTo>
                  <a:cubicBezTo>
                    <a:pt x="14489" y="3177"/>
                    <a:pt x="22159" y="0"/>
                    <a:pt x="30157" y="0"/>
                  </a:cubicBezTo>
                  <a:close/>
                </a:path>
              </a:pathLst>
            </a:custGeom>
            <a:solidFill>
              <a:srgbClr val="FFFFFF"/>
            </a:solidFill>
          </p:spPr>
        </p:sp>
        <p:sp>
          <p:nvSpPr>
            <p:cNvPr name="TextBox 4" id="4"/>
            <p:cNvSpPr txBox="true"/>
            <p:nvPr/>
          </p:nvSpPr>
          <p:spPr>
            <a:xfrm>
              <a:off x="0" y="-38100"/>
              <a:ext cx="2974951" cy="1284053"/>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489463" y="1483164"/>
            <a:ext cx="8375385" cy="2968628"/>
          </a:xfrm>
          <a:prstGeom prst="rect">
            <a:avLst/>
          </a:prstGeom>
        </p:spPr>
        <p:txBody>
          <a:bodyPr anchor="t" rtlCol="false" tIns="0" lIns="0" bIns="0" rIns="0">
            <a:spAutoFit/>
          </a:bodyPr>
          <a:lstStyle/>
          <a:p>
            <a:pPr algn="l" marL="0" indent="0" lvl="0">
              <a:lnSpc>
                <a:spcPts val="11158"/>
              </a:lnSpc>
            </a:pPr>
            <a:r>
              <a:rPr lang="en-US" b="true" sz="10626" spc="-765">
                <a:solidFill>
                  <a:srgbClr val="FFFFFF"/>
                </a:solidFill>
                <a:latin typeface="Poppins Bold"/>
                <a:ea typeface="Poppins Bold"/>
                <a:cs typeface="Poppins Bold"/>
                <a:sym typeface="Poppins Bold"/>
              </a:rPr>
              <a:t>MENGAPA GIT DIGUNAKAN?</a:t>
            </a:r>
          </a:p>
        </p:txBody>
      </p:sp>
      <p:sp>
        <p:nvSpPr>
          <p:cNvPr name="TextBox 6" id="6"/>
          <p:cNvSpPr txBox="true"/>
          <p:nvPr/>
        </p:nvSpPr>
        <p:spPr>
          <a:xfrm rot="0">
            <a:off x="1489463" y="5952709"/>
            <a:ext cx="6622538" cy="791278"/>
          </a:xfrm>
          <a:prstGeom prst="rect">
            <a:avLst/>
          </a:prstGeom>
        </p:spPr>
        <p:txBody>
          <a:bodyPr anchor="t" rtlCol="false" tIns="0" lIns="0" bIns="0" rIns="0">
            <a:spAutoFit/>
          </a:bodyPr>
          <a:lstStyle/>
          <a:p>
            <a:pPr algn="l" marL="0" indent="0" lvl="0">
              <a:lnSpc>
                <a:spcPts val="3024"/>
              </a:lnSpc>
              <a:spcBef>
                <a:spcPct val="0"/>
              </a:spcBef>
            </a:pPr>
            <a:r>
              <a:rPr lang="en-US" sz="2880" spc="-221">
                <a:solidFill>
                  <a:srgbClr val="FFFFFF"/>
                </a:solidFill>
                <a:latin typeface="Poppins"/>
                <a:ea typeface="Poppins"/>
                <a:cs typeface="Poppins"/>
                <a:sym typeface="Poppins"/>
              </a:rPr>
              <a:t>Masalah Sebelum Git dan Bagaimana Git Menyelesaikannya</a:t>
            </a:r>
          </a:p>
        </p:txBody>
      </p:sp>
      <p:sp>
        <p:nvSpPr>
          <p:cNvPr name="TextBox 7" id="7"/>
          <p:cNvSpPr txBox="true"/>
          <p:nvPr/>
        </p:nvSpPr>
        <p:spPr>
          <a:xfrm rot="0">
            <a:off x="1489463" y="7389663"/>
            <a:ext cx="8264130" cy="2294025"/>
          </a:xfrm>
          <a:prstGeom prst="rect">
            <a:avLst/>
          </a:prstGeom>
        </p:spPr>
        <p:txBody>
          <a:bodyPr anchor="t" rtlCol="false" tIns="0" lIns="0" bIns="0" rIns="0">
            <a:spAutoFit/>
          </a:bodyPr>
          <a:lstStyle/>
          <a:p>
            <a:pPr algn="l" marL="0" indent="0" lvl="0">
              <a:lnSpc>
                <a:spcPts val="3020"/>
              </a:lnSpc>
              <a:spcBef>
                <a:spcPct val="0"/>
              </a:spcBef>
            </a:pPr>
            <a:r>
              <a:rPr lang="en-US" sz="2157">
                <a:solidFill>
                  <a:srgbClr val="FFFFFF"/>
                </a:solidFill>
                <a:latin typeface="Poppins"/>
                <a:ea typeface="Poppins"/>
                <a:cs typeface="Poppins"/>
                <a:sym typeface="Poppins"/>
              </a:rPr>
              <a:t>❌ Masalah Sebelum Git:</a:t>
            </a:r>
          </a:p>
          <a:p>
            <a:pPr algn="l" marL="0" indent="0" lvl="0">
              <a:lnSpc>
                <a:spcPts val="3020"/>
              </a:lnSpc>
              <a:spcBef>
                <a:spcPct val="0"/>
              </a:spcBef>
            </a:pPr>
            <a:r>
              <a:rPr lang="en-US" sz="2157">
                <a:solidFill>
                  <a:srgbClr val="FFFFFF"/>
                </a:solidFill>
                <a:latin typeface="Poppins"/>
                <a:ea typeface="Poppins"/>
                <a:cs typeface="Poppins"/>
                <a:sym typeface="Poppins"/>
              </a:rPr>
              <a:t>• Banyak versi file: project_final, project_final_fix, project_final_fix_beneran</a:t>
            </a:r>
          </a:p>
          <a:p>
            <a:pPr algn="l" marL="0" indent="0" lvl="0">
              <a:lnSpc>
                <a:spcPts val="3020"/>
              </a:lnSpc>
              <a:spcBef>
                <a:spcPct val="0"/>
              </a:spcBef>
            </a:pPr>
            <a:r>
              <a:rPr lang="en-US" sz="2157">
                <a:solidFill>
                  <a:srgbClr val="FFFFFF"/>
                </a:solidFill>
                <a:latin typeface="Poppins"/>
                <a:ea typeface="Poppins"/>
                <a:cs typeface="Poppins"/>
                <a:sym typeface="Poppins"/>
              </a:rPr>
              <a:t>• Sulit mengetahui versi terbaru</a:t>
            </a:r>
          </a:p>
          <a:p>
            <a:pPr algn="l" marL="0" indent="0" lvl="0">
              <a:lnSpc>
                <a:spcPts val="3020"/>
              </a:lnSpc>
              <a:spcBef>
                <a:spcPct val="0"/>
              </a:spcBef>
            </a:pPr>
            <a:r>
              <a:rPr lang="en-US" sz="2157">
                <a:solidFill>
                  <a:srgbClr val="FFFFFF"/>
                </a:solidFill>
                <a:latin typeface="Poppins"/>
                <a:ea typeface="Poppins"/>
                <a:cs typeface="Poppins"/>
                <a:sym typeface="Poppins"/>
              </a:rPr>
              <a:t>• Sulit bekerja bersama tim</a:t>
            </a:r>
          </a:p>
          <a:p>
            <a:pPr algn="l" marL="0" indent="0" lvl="0">
              <a:lnSpc>
                <a:spcPts val="3020"/>
              </a:lnSpc>
              <a:spcBef>
                <a:spcPct val="0"/>
              </a:spcBef>
            </a:pPr>
            <a:r>
              <a:rPr lang="en-US" sz="2157">
                <a:solidFill>
                  <a:srgbClr val="FFFFFF"/>
                </a:solidFill>
                <a:latin typeface="Poppins"/>
                <a:ea typeface="Poppins"/>
                <a:cs typeface="Poppins"/>
                <a:sym typeface="Poppins"/>
              </a:rPr>
              <a:t>• Risiko kehilangan file penting</a:t>
            </a:r>
          </a:p>
        </p:txBody>
      </p:sp>
      <p:sp>
        <p:nvSpPr>
          <p:cNvPr name="TextBox 8" id="8"/>
          <p:cNvSpPr txBox="true"/>
          <p:nvPr/>
        </p:nvSpPr>
        <p:spPr>
          <a:xfrm rot="0">
            <a:off x="12820123" y="1533757"/>
            <a:ext cx="5257215" cy="2743618"/>
          </a:xfrm>
          <a:prstGeom prst="rect">
            <a:avLst/>
          </a:prstGeom>
        </p:spPr>
        <p:txBody>
          <a:bodyPr anchor="t" rtlCol="false" tIns="0" lIns="0" bIns="0" rIns="0">
            <a:spAutoFit/>
          </a:bodyPr>
          <a:lstStyle/>
          <a:p>
            <a:pPr algn="ctr" marL="0" indent="0" lvl="0">
              <a:lnSpc>
                <a:spcPts val="3651"/>
              </a:lnSpc>
              <a:spcBef>
                <a:spcPct val="0"/>
              </a:spcBef>
            </a:pPr>
            <a:r>
              <a:rPr lang="en-US" sz="2608">
                <a:solidFill>
                  <a:srgbClr val="FFFFFF"/>
                </a:solidFill>
                <a:latin typeface="Poppins"/>
                <a:ea typeface="Poppins"/>
                <a:cs typeface="Poppins"/>
                <a:sym typeface="Poppins"/>
              </a:rPr>
              <a:t>✅ Solusi Git:</a:t>
            </a:r>
          </a:p>
          <a:p>
            <a:pPr algn="just" marL="0" indent="0" lvl="0">
              <a:lnSpc>
                <a:spcPts val="3651"/>
              </a:lnSpc>
              <a:spcBef>
                <a:spcPct val="0"/>
              </a:spcBef>
            </a:pPr>
            <a:r>
              <a:rPr lang="en-US" sz="2608">
                <a:solidFill>
                  <a:srgbClr val="FFFFFF"/>
                </a:solidFill>
                <a:latin typeface="Poppins"/>
                <a:ea typeface="Poppins"/>
                <a:cs typeface="Poppins"/>
                <a:sym typeface="Poppins"/>
              </a:rPr>
              <a:t>Mencatat seluruh perubahan dalam satu project tanpa banyak salinan file — rapi, aman, dan mudah dilacak bersama tim.</a:t>
            </a:r>
          </a:p>
        </p:txBody>
      </p:sp>
      <p:sp>
        <p:nvSpPr>
          <p:cNvPr name="Freeform 9" id="9"/>
          <p:cNvSpPr/>
          <p:nvPr/>
        </p:nvSpPr>
        <p:spPr>
          <a:xfrm flipH="false" flipV="false" rot="0">
            <a:off x="9144000" y="3423643"/>
            <a:ext cx="4611321" cy="4628151"/>
          </a:xfrm>
          <a:custGeom>
            <a:avLst/>
            <a:gdLst/>
            <a:ahLst/>
            <a:cxnLst/>
            <a:rect r="r" b="b" t="t" l="l"/>
            <a:pathLst>
              <a:path h="4628151" w="4611321">
                <a:moveTo>
                  <a:pt x="0" y="0"/>
                </a:moveTo>
                <a:lnTo>
                  <a:pt x="4611321" y="0"/>
                </a:lnTo>
                <a:lnTo>
                  <a:pt x="4611321" y="4628151"/>
                </a:lnTo>
                <a:lnTo>
                  <a:pt x="0" y="4628151"/>
                </a:lnTo>
                <a:lnTo>
                  <a:pt x="0" y="0"/>
                </a:lnTo>
                <a:close/>
              </a:path>
            </a:pathLst>
          </a:custGeom>
          <a:blipFill>
            <a:blip r:embed="rId2"/>
            <a:stretch>
              <a:fillRect l="0" t="0" r="0" b="0"/>
            </a:stretch>
          </a:blipFill>
        </p:spPr>
      </p:sp>
      <p:grpSp>
        <p:nvGrpSpPr>
          <p:cNvPr name="Group 10" id="10"/>
          <p:cNvGrpSpPr/>
          <p:nvPr/>
        </p:nvGrpSpPr>
        <p:grpSpPr>
          <a:xfrm rot="0">
            <a:off x="9399749" y="3687807"/>
            <a:ext cx="4099823" cy="409982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9753593" y="4041651"/>
            <a:ext cx="3392136" cy="339213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
        <p:nvSpPr>
          <p:cNvPr name="Freeform 15" id="15"/>
          <p:cNvSpPr/>
          <p:nvPr/>
        </p:nvSpPr>
        <p:spPr>
          <a:xfrm flipH="false" flipV="false" rot="0">
            <a:off x="12820123" y="5143500"/>
            <a:ext cx="6989408" cy="7014917"/>
          </a:xfrm>
          <a:custGeom>
            <a:avLst/>
            <a:gdLst/>
            <a:ahLst/>
            <a:cxnLst/>
            <a:rect r="r" b="b" t="t" l="l"/>
            <a:pathLst>
              <a:path h="7014917" w="6989408">
                <a:moveTo>
                  <a:pt x="0" y="0"/>
                </a:moveTo>
                <a:lnTo>
                  <a:pt x="6989408" y="0"/>
                </a:lnTo>
                <a:lnTo>
                  <a:pt x="6989408" y="7014917"/>
                </a:lnTo>
                <a:lnTo>
                  <a:pt x="0" y="7014917"/>
                </a:lnTo>
                <a:lnTo>
                  <a:pt x="0" y="0"/>
                </a:lnTo>
                <a:close/>
              </a:path>
            </a:pathLst>
          </a:custGeom>
          <a:blipFill>
            <a:blip r:embed="rId2"/>
            <a:stretch>
              <a:fillRect l="0" t="0" r="0" b="0"/>
            </a:stretch>
          </a:blipFill>
        </p:spPr>
      </p:sp>
      <p:grpSp>
        <p:nvGrpSpPr>
          <p:cNvPr name="Group 16" id="16"/>
          <p:cNvGrpSpPr/>
          <p:nvPr/>
        </p:nvGrpSpPr>
        <p:grpSpPr>
          <a:xfrm rot="0">
            <a:off x="13207763" y="5543895"/>
            <a:ext cx="6214128" cy="621412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13744086" y="6080218"/>
            <a:ext cx="5141481" cy="51414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66675" cap="sq">
              <a:solidFill>
                <a:srgbClr val="FFFFFF"/>
              </a:solidFill>
              <a:prstDash val="solid"/>
              <a:miter/>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9144000" y="-721470"/>
            <a:ext cx="11474423" cy="6022472"/>
            <a:chOff x="0" y="0"/>
            <a:chExt cx="3022070" cy="1586166"/>
          </a:xfrm>
        </p:grpSpPr>
        <p:sp>
          <p:nvSpPr>
            <p:cNvPr name="Freeform 3" id="3"/>
            <p:cNvSpPr/>
            <p:nvPr/>
          </p:nvSpPr>
          <p:spPr>
            <a:xfrm flipH="false" flipV="false" rot="0">
              <a:off x="0" y="0"/>
              <a:ext cx="3022070" cy="1586166"/>
            </a:xfrm>
            <a:custGeom>
              <a:avLst/>
              <a:gdLst/>
              <a:ahLst/>
              <a:cxnLst/>
              <a:rect r="r" b="b" t="t" l="l"/>
              <a:pathLst>
                <a:path h="1586166" w="3022070">
                  <a:moveTo>
                    <a:pt x="29687" y="0"/>
                  </a:moveTo>
                  <a:lnTo>
                    <a:pt x="2992383" y="0"/>
                  </a:lnTo>
                  <a:cubicBezTo>
                    <a:pt x="3000257" y="0"/>
                    <a:pt x="3007808" y="3128"/>
                    <a:pt x="3013375" y="8695"/>
                  </a:cubicBezTo>
                  <a:cubicBezTo>
                    <a:pt x="3018943" y="14263"/>
                    <a:pt x="3022070" y="21814"/>
                    <a:pt x="3022070" y="29687"/>
                  </a:cubicBezTo>
                  <a:lnTo>
                    <a:pt x="3022070" y="1556478"/>
                  </a:lnTo>
                  <a:cubicBezTo>
                    <a:pt x="3022070" y="1564352"/>
                    <a:pt x="3018943" y="1571903"/>
                    <a:pt x="3013375" y="1577470"/>
                  </a:cubicBezTo>
                  <a:cubicBezTo>
                    <a:pt x="3007808" y="1583038"/>
                    <a:pt x="3000257" y="1586166"/>
                    <a:pt x="2992383" y="1586166"/>
                  </a:cubicBezTo>
                  <a:lnTo>
                    <a:pt x="29687" y="1586166"/>
                  </a:lnTo>
                  <a:cubicBezTo>
                    <a:pt x="21814" y="1586166"/>
                    <a:pt x="14263" y="1583038"/>
                    <a:pt x="8695" y="1577470"/>
                  </a:cubicBezTo>
                  <a:cubicBezTo>
                    <a:pt x="3128" y="1571903"/>
                    <a:pt x="0" y="1564352"/>
                    <a:pt x="0" y="1556478"/>
                  </a:cubicBezTo>
                  <a:lnTo>
                    <a:pt x="0" y="29687"/>
                  </a:lnTo>
                  <a:cubicBezTo>
                    <a:pt x="0" y="21814"/>
                    <a:pt x="3128" y="14263"/>
                    <a:pt x="8695" y="8695"/>
                  </a:cubicBezTo>
                  <a:cubicBezTo>
                    <a:pt x="14263" y="3128"/>
                    <a:pt x="21814" y="0"/>
                    <a:pt x="29687" y="0"/>
                  </a:cubicBezTo>
                  <a:close/>
                </a:path>
              </a:pathLst>
            </a:custGeom>
            <a:solidFill>
              <a:srgbClr val="FFFFFF"/>
            </a:solidFill>
          </p:spPr>
        </p:sp>
        <p:sp>
          <p:nvSpPr>
            <p:cNvPr name="TextBox 4" id="4"/>
            <p:cNvSpPr txBox="true"/>
            <p:nvPr/>
          </p:nvSpPr>
          <p:spPr>
            <a:xfrm>
              <a:off x="0" y="-38100"/>
              <a:ext cx="3022070" cy="1624266"/>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646004" y="1723023"/>
            <a:ext cx="6362711" cy="2968628"/>
          </a:xfrm>
          <a:prstGeom prst="rect">
            <a:avLst/>
          </a:prstGeom>
        </p:spPr>
        <p:txBody>
          <a:bodyPr anchor="t" rtlCol="false" tIns="0" lIns="0" bIns="0" rIns="0">
            <a:spAutoFit/>
          </a:bodyPr>
          <a:lstStyle/>
          <a:p>
            <a:pPr algn="l" marL="0" indent="0" lvl="0">
              <a:lnSpc>
                <a:spcPts val="11158"/>
              </a:lnSpc>
            </a:pPr>
            <a:r>
              <a:rPr lang="en-US" b="true" sz="10626" spc="-765">
                <a:solidFill>
                  <a:srgbClr val="FFFFFF"/>
                </a:solidFill>
                <a:latin typeface="Poppins Bold"/>
                <a:ea typeface="Poppins Bold"/>
                <a:cs typeface="Poppins Bold"/>
                <a:sym typeface="Poppins Bold"/>
              </a:rPr>
              <a:t>FUNGSI GIT</a:t>
            </a:r>
          </a:p>
        </p:txBody>
      </p:sp>
      <p:sp>
        <p:nvSpPr>
          <p:cNvPr name="TextBox 6" id="6"/>
          <p:cNvSpPr txBox="true"/>
          <p:nvPr/>
        </p:nvSpPr>
        <p:spPr>
          <a:xfrm rot="0">
            <a:off x="758478" y="5301127"/>
            <a:ext cx="6362711" cy="858167"/>
          </a:xfrm>
          <a:prstGeom prst="rect">
            <a:avLst/>
          </a:prstGeom>
        </p:spPr>
        <p:txBody>
          <a:bodyPr anchor="t" rtlCol="false" tIns="0" lIns="0" bIns="0" rIns="0">
            <a:spAutoFit/>
          </a:bodyPr>
          <a:lstStyle/>
          <a:p>
            <a:pPr algn="l" marL="0" indent="0" lvl="0">
              <a:lnSpc>
                <a:spcPts val="3200"/>
              </a:lnSpc>
              <a:spcBef>
                <a:spcPct val="0"/>
              </a:spcBef>
            </a:pPr>
            <a:r>
              <a:rPr lang="en-US" sz="3048" spc="-234">
                <a:solidFill>
                  <a:srgbClr val="FFFFFF"/>
                </a:solidFill>
                <a:latin typeface="Poppins"/>
                <a:ea typeface="Poppins"/>
                <a:cs typeface="Poppins"/>
                <a:sym typeface="Poppins"/>
              </a:rPr>
              <a:t>Empat Fungsi Utama Git dalam Pengembangan Project</a:t>
            </a:r>
          </a:p>
        </p:txBody>
      </p:sp>
      <p:sp>
        <p:nvSpPr>
          <p:cNvPr name="TextBox 7" id="7"/>
          <p:cNvSpPr txBox="true"/>
          <p:nvPr/>
        </p:nvSpPr>
        <p:spPr>
          <a:xfrm rot="0">
            <a:off x="386931" y="6584247"/>
            <a:ext cx="10029692" cy="2232020"/>
          </a:xfrm>
          <a:prstGeom prst="rect">
            <a:avLst/>
          </a:prstGeom>
        </p:spPr>
        <p:txBody>
          <a:bodyPr anchor="t" rtlCol="false" tIns="0" lIns="0" bIns="0" rIns="0">
            <a:spAutoFit/>
          </a:bodyPr>
          <a:lstStyle/>
          <a:p>
            <a:pPr algn="just" marL="458827" indent="-229414" lvl="1">
              <a:lnSpc>
                <a:spcPts val="2975"/>
              </a:lnSpc>
              <a:spcBef>
                <a:spcPct val="0"/>
              </a:spcBef>
              <a:buAutoNum type="arabicPeriod" startAt="1"/>
            </a:pPr>
            <a:r>
              <a:rPr lang="en-US" sz="2125">
                <a:solidFill>
                  <a:srgbClr val="FFFFFF"/>
                </a:solidFill>
                <a:latin typeface="Poppins"/>
                <a:ea typeface="Poppins"/>
                <a:cs typeface="Poppins"/>
                <a:sym typeface="Poppins"/>
              </a:rPr>
              <a:t>Mencatat riwayat perubahan — setiap perubahan file tersimpan dengan rapi.</a:t>
            </a:r>
          </a:p>
          <a:p>
            <a:pPr algn="just" marL="458827" indent="-229414" lvl="1">
              <a:lnSpc>
                <a:spcPts val="2975"/>
              </a:lnSpc>
              <a:spcBef>
                <a:spcPct val="0"/>
              </a:spcBef>
              <a:buAutoNum type="arabicPeriod" startAt="1"/>
            </a:pPr>
            <a:r>
              <a:rPr lang="en-US" sz="2125">
                <a:solidFill>
                  <a:srgbClr val="FFFFFF"/>
                </a:solidFill>
                <a:latin typeface="Poppins"/>
                <a:ea typeface="Poppins"/>
                <a:cs typeface="Poppins"/>
                <a:sym typeface="Poppins"/>
              </a:rPr>
              <a:t>Memudahkan kolaborasi — tim dapat bekerja bersama tanpa konflik.</a:t>
            </a:r>
          </a:p>
          <a:p>
            <a:pPr algn="just" marL="458827" indent="-229414" lvl="1">
              <a:lnSpc>
                <a:spcPts val="2975"/>
              </a:lnSpc>
              <a:spcBef>
                <a:spcPct val="0"/>
              </a:spcBef>
              <a:buAutoNum type="arabicPeriod" startAt="1"/>
            </a:pPr>
            <a:r>
              <a:rPr lang="en-US" sz="2125">
                <a:solidFill>
                  <a:srgbClr val="FFFFFF"/>
                </a:solidFill>
                <a:latin typeface="Poppins"/>
                <a:ea typeface="Poppins"/>
                <a:cs typeface="Poppins"/>
                <a:sym typeface="Poppins"/>
              </a:rPr>
              <a:t>Backup project — data aman dan dapat dipulihkan kapan saja.</a:t>
            </a:r>
          </a:p>
          <a:p>
            <a:pPr algn="just" marL="458827" indent="-229414" lvl="1">
              <a:lnSpc>
                <a:spcPts val="2975"/>
              </a:lnSpc>
              <a:spcBef>
                <a:spcPct val="0"/>
              </a:spcBef>
              <a:buAutoNum type="arabicPeriod" startAt="1"/>
            </a:pPr>
            <a:r>
              <a:rPr lang="en-US" sz="2125">
                <a:solidFill>
                  <a:srgbClr val="FFFFFF"/>
                </a:solidFill>
                <a:latin typeface="Poppins"/>
                <a:ea typeface="Poppins"/>
                <a:cs typeface="Poppins"/>
                <a:sym typeface="Poppins"/>
              </a:rPr>
              <a:t>Mengelola pengembangan fitur — fitur baru dikembangkan di branch terpisah.</a:t>
            </a:r>
          </a:p>
        </p:txBody>
      </p:sp>
      <p:sp>
        <p:nvSpPr>
          <p:cNvPr name="TextBox 8" id="8"/>
          <p:cNvSpPr txBox="true"/>
          <p:nvPr/>
        </p:nvSpPr>
        <p:spPr>
          <a:xfrm rot="0">
            <a:off x="12453865" y="1844447"/>
            <a:ext cx="5834135" cy="1615263"/>
          </a:xfrm>
          <a:prstGeom prst="rect">
            <a:avLst/>
          </a:prstGeom>
        </p:spPr>
        <p:txBody>
          <a:bodyPr anchor="t" rtlCol="false" tIns="0" lIns="0" bIns="0" rIns="0">
            <a:spAutoFit/>
          </a:bodyPr>
          <a:lstStyle/>
          <a:p>
            <a:pPr algn="l" marL="0" indent="0" lvl="0">
              <a:lnSpc>
                <a:spcPts val="3169"/>
              </a:lnSpc>
              <a:spcBef>
                <a:spcPct val="0"/>
              </a:spcBef>
            </a:pPr>
            <a:r>
              <a:rPr lang="en-US" sz="2264">
                <a:gradFill>
                  <a:gsLst>
                    <a:gs pos="0">
                      <a:srgbClr val="109590">
                        <a:alpha val="100000"/>
                      </a:srgbClr>
                    </a:gs>
                    <a:gs pos="100000">
                      <a:srgbClr val="0B3450">
                        <a:alpha val="100000"/>
                      </a:srgbClr>
                    </a:gs>
                  </a:gsLst>
                  <a:lin ang="2700000"/>
                </a:gradFill>
                <a:latin typeface="Poppins"/>
                <a:ea typeface="Poppins"/>
                <a:cs typeface="Poppins"/>
                <a:sym typeface="Poppins"/>
              </a:rPr>
              <a:t>Dengan Git, setiap perubahan pada project dapat dilacak, dikelola, dan dikembalikan ke versi sebelumnya kapan pun dibutuhkan.</a:t>
            </a:r>
          </a:p>
        </p:txBody>
      </p:sp>
      <p:sp>
        <p:nvSpPr>
          <p:cNvPr name="Freeform 9" id="9"/>
          <p:cNvSpPr/>
          <p:nvPr/>
        </p:nvSpPr>
        <p:spPr>
          <a:xfrm flipH="false" flipV="false" rot="0">
            <a:off x="7700230" y="-1170226"/>
            <a:ext cx="4892344" cy="4910199"/>
          </a:xfrm>
          <a:custGeom>
            <a:avLst/>
            <a:gdLst/>
            <a:ahLst/>
            <a:cxnLst/>
            <a:rect r="r" b="b" t="t" l="l"/>
            <a:pathLst>
              <a:path h="4910199" w="4892344">
                <a:moveTo>
                  <a:pt x="0" y="0"/>
                </a:moveTo>
                <a:lnTo>
                  <a:pt x="4892344" y="0"/>
                </a:lnTo>
                <a:lnTo>
                  <a:pt x="4892344" y="4910199"/>
                </a:lnTo>
                <a:lnTo>
                  <a:pt x="0" y="4910199"/>
                </a:lnTo>
                <a:lnTo>
                  <a:pt x="0" y="0"/>
                </a:lnTo>
                <a:close/>
              </a:path>
            </a:pathLst>
          </a:custGeom>
          <a:blipFill>
            <a:blip r:embed="rId2"/>
            <a:stretch>
              <a:fillRect l="0" t="0" r="0" b="0"/>
            </a:stretch>
          </a:blipFill>
        </p:spPr>
      </p:sp>
      <p:grpSp>
        <p:nvGrpSpPr>
          <p:cNvPr name="Group 10" id="10"/>
          <p:cNvGrpSpPr/>
          <p:nvPr/>
        </p:nvGrpSpPr>
        <p:grpSpPr>
          <a:xfrm rot="0">
            <a:off x="7971565" y="-889964"/>
            <a:ext cx="4349674" cy="434967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8346972" y="-514556"/>
            <a:ext cx="3598859" cy="359885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
        <p:nvSpPr>
          <p:cNvPr name="Freeform 15" id="15"/>
          <p:cNvSpPr/>
          <p:nvPr/>
        </p:nvSpPr>
        <p:spPr>
          <a:xfrm flipH="false" flipV="false" rot="0">
            <a:off x="9915629" y="3739973"/>
            <a:ext cx="9033260" cy="9066228"/>
          </a:xfrm>
          <a:custGeom>
            <a:avLst/>
            <a:gdLst/>
            <a:ahLst/>
            <a:cxnLst/>
            <a:rect r="r" b="b" t="t" l="l"/>
            <a:pathLst>
              <a:path h="9066228" w="9033260">
                <a:moveTo>
                  <a:pt x="0" y="0"/>
                </a:moveTo>
                <a:lnTo>
                  <a:pt x="9033260" y="0"/>
                </a:lnTo>
                <a:lnTo>
                  <a:pt x="9033260" y="9066228"/>
                </a:lnTo>
                <a:lnTo>
                  <a:pt x="0" y="9066228"/>
                </a:lnTo>
                <a:lnTo>
                  <a:pt x="0" y="0"/>
                </a:lnTo>
                <a:close/>
              </a:path>
            </a:pathLst>
          </a:custGeom>
          <a:blipFill>
            <a:blip r:embed="rId2"/>
            <a:stretch>
              <a:fillRect l="0" t="0" r="0" b="0"/>
            </a:stretch>
          </a:blipFill>
        </p:spPr>
      </p:sp>
      <p:grpSp>
        <p:nvGrpSpPr>
          <p:cNvPr name="Group 16" id="16"/>
          <p:cNvGrpSpPr/>
          <p:nvPr/>
        </p:nvGrpSpPr>
        <p:grpSpPr>
          <a:xfrm rot="0">
            <a:off x="10416623" y="4257451"/>
            <a:ext cx="8031271" cy="803127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11109779" y="4950607"/>
            <a:ext cx="6644960" cy="664496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66675" cap="sq">
              <a:solidFill>
                <a:srgbClr val="FFFFFF"/>
              </a:solidFill>
              <a:prstDash val="solid"/>
              <a:miter/>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85468" y="1759867"/>
            <a:ext cx="14717065" cy="3383633"/>
            <a:chOff x="0" y="0"/>
            <a:chExt cx="3876099" cy="891163"/>
          </a:xfrm>
        </p:grpSpPr>
        <p:sp>
          <p:nvSpPr>
            <p:cNvPr name="Freeform 3" id="3"/>
            <p:cNvSpPr/>
            <p:nvPr/>
          </p:nvSpPr>
          <p:spPr>
            <a:xfrm flipH="false" flipV="false" rot="0">
              <a:off x="0" y="0"/>
              <a:ext cx="3876099" cy="891163"/>
            </a:xfrm>
            <a:custGeom>
              <a:avLst/>
              <a:gdLst/>
              <a:ahLst/>
              <a:cxnLst/>
              <a:rect r="r" b="b" t="t" l="l"/>
              <a:pathLst>
                <a:path h="891163" w="3876099">
                  <a:moveTo>
                    <a:pt x="23146" y="0"/>
                  </a:moveTo>
                  <a:lnTo>
                    <a:pt x="3852953" y="0"/>
                  </a:lnTo>
                  <a:cubicBezTo>
                    <a:pt x="3859092" y="0"/>
                    <a:pt x="3864979" y="2439"/>
                    <a:pt x="3869320" y="6779"/>
                  </a:cubicBezTo>
                  <a:cubicBezTo>
                    <a:pt x="3873661" y="11120"/>
                    <a:pt x="3876099" y="17007"/>
                    <a:pt x="3876099" y="23146"/>
                  </a:cubicBezTo>
                  <a:lnTo>
                    <a:pt x="3876099" y="868016"/>
                  </a:lnTo>
                  <a:cubicBezTo>
                    <a:pt x="3876099" y="874155"/>
                    <a:pt x="3873661" y="880043"/>
                    <a:pt x="3869320" y="884383"/>
                  </a:cubicBezTo>
                  <a:cubicBezTo>
                    <a:pt x="3864979" y="888724"/>
                    <a:pt x="3859092" y="891163"/>
                    <a:pt x="3852953" y="891163"/>
                  </a:cubicBezTo>
                  <a:lnTo>
                    <a:pt x="23146" y="891163"/>
                  </a:lnTo>
                  <a:cubicBezTo>
                    <a:pt x="17007" y="891163"/>
                    <a:pt x="11120" y="888724"/>
                    <a:pt x="6779" y="884383"/>
                  </a:cubicBezTo>
                  <a:cubicBezTo>
                    <a:pt x="2439" y="880043"/>
                    <a:pt x="0" y="874155"/>
                    <a:pt x="0" y="868016"/>
                  </a:cubicBezTo>
                  <a:lnTo>
                    <a:pt x="0" y="23146"/>
                  </a:lnTo>
                  <a:cubicBezTo>
                    <a:pt x="0" y="17007"/>
                    <a:pt x="2439" y="11120"/>
                    <a:pt x="6779" y="6779"/>
                  </a:cubicBezTo>
                  <a:cubicBezTo>
                    <a:pt x="11120" y="2439"/>
                    <a:pt x="17007" y="0"/>
                    <a:pt x="23146" y="0"/>
                  </a:cubicBezTo>
                  <a:close/>
                </a:path>
              </a:pathLst>
            </a:custGeom>
            <a:solidFill>
              <a:srgbClr val="FFFFFF"/>
            </a:solidFill>
          </p:spPr>
        </p:sp>
        <p:sp>
          <p:nvSpPr>
            <p:cNvPr name="TextBox 4" id="4"/>
            <p:cNvSpPr txBox="true"/>
            <p:nvPr/>
          </p:nvSpPr>
          <p:spPr>
            <a:xfrm>
              <a:off x="0" y="-38100"/>
              <a:ext cx="3876099" cy="929263"/>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861145" y="2224815"/>
            <a:ext cx="14565709" cy="1513340"/>
          </a:xfrm>
          <a:prstGeom prst="rect">
            <a:avLst/>
          </a:prstGeom>
        </p:spPr>
        <p:txBody>
          <a:bodyPr anchor="t" rtlCol="false" tIns="0" lIns="0" bIns="0" rIns="0">
            <a:spAutoFit/>
          </a:bodyPr>
          <a:lstStyle/>
          <a:p>
            <a:pPr algn="ctr" marL="0" indent="0" lvl="0">
              <a:lnSpc>
                <a:spcPts val="10784"/>
              </a:lnSpc>
            </a:pPr>
            <a:r>
              <a:rPr lang="en-US" b="true" sz="10270" spc="-739">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APA ITU GITHUB?</a:t>
            </a:r>
          </a:p>
        </p:txBody>
      </p:sp>
      <p:sp>
        <p:nvSpPr>
          <p:cNvPr name="TextBox 6" id="6"/>
          <p:cNvSpPr txBox="true"/>
          <p:nvPr/>
        </p:nvSpPr>
        <p:spPr>
          <a:xfrm rot="0">
            <a:off x="2654177" y="3893753"/>
            <a:ext cx="12979645" cy="458117"/>
          </a:xfrm>
          <a:prstGeom prst="rect">
            <a:avLst/>
          </a:prstGeom>
        </p:spPr>
        <p:txBody>
          <a:bodyPr anchor="t" rtlCol="false" tIns="0" lIns="0" bIns="0" rIns="0">
            <a:spAutoFit/>
          </a:bodyPr>
          <a:lstStyle/>
          <a:p>
            <a:pPr algn="ctr" marL="0" indent="0" lvl="0">
              <a:lnSpc>
                <a:spcPts val="3200"/>
              </a:lnSpc>
              <a:spcBef>
                <a:spcPct val="0"/>
              </a:spcBef>
            </a:pPr>
            <a:r>
              <a:rPr lang="en-US" sz="3048" spc="-234">
                <a:gradFill>
                  <a:gsLst>
                    <a:gs pos="0">
                      <a:srgbClr val="109590">
                        <a:alpha val="100000"/>
                      </a:srgbClr>
                    </a:gs>
                    <a:gs pos="100000">
                      <a:srgbClr val="0B3450">
                        <a:alpha val="100000"/>
                      </a:srgbClr>
                    </a:gs>
                  </a:gsLst>
                  <a:lin ang="2700000"/>
                </a:gradFill>
                <a:latin typeface="Poppins"/>
                <a:ea typeface="Poppins"/>
                <a:cs typeface="Poppins"/>
                <a:sym typeface="Poppins"/>
              </a:rPr>
              <a:t>Platform Berbasis Web Untuk Menyimpan Repository Git Secara Online</a:t>
            </a:r>
          </a:p>
        </p:txBody>
      </p:sp>
      <p:sp>
        <p:nvSpPr>
          <p:cNvPr name="TextBox 7" id="7"/>
          <p:cNvSpPr txBox="true"/>
          <p:nvPr/>
        </p:nvSpPr>
        <p:spPr>
          <a:xfrm rot="0">
            <a:off x="1785468" y="5977151"/>
            <a:ext cx="7928312" cy="1380680"/>
          </a:xfrm>
          <a:prstGeom prst="rect">
            <a:avLst/>
          </a:prstGeom>
        </p:spPr>
        <p:txBody>
          <a:bodyPr anchor="t" rtlCol="false" tIns="0" lIns="0" bIns="0" rIns="0">
            <a:spAutoFit/>
          </a:bodyPr>
          <a:lstStyle/>
          <a:p>
            <a:pPr algn="just" marL="0" indent="0" lvl="0">
              <a:lnSpc>
                <a:spcPts val="2701"/>
              </a:lnSpc>
              <a:spcBef>
                <a:spcPct val="0"/>
              </a:spcBef>
            </a:pPr>
            <a:r>
              <a:rPr lang="en-US" sz="1929">
                <a:solidFill>
                  <a:srgbClr val="FFFFFF"/>
                </a:solidFill>
                <a:latin typeface="Poppins"/>
                <a:ea typeface="Poppins"/>
                <a:cs typeface="Poppins"/>
                <a:sym typeface="Poppins"/>
              </a:rPr>
              <a:t>GitHub adalah platform berbasis web yang digunakan untuk menyimpan repository Git secara online. Jika Git bekerja di komputer lokal, maka GitHub bekerja di internet sebagai tempat penyimpanan terpusat yang dapat diakses dari mana saja.</a:t>
            </a:r>
          </a:p>
        </p:txBody>
      </p:sp>
      <p:sp>
        <p:nvSpPr>
          <p:cNvPr name="TextBox 8" id="8"/>
          <p:cNvSpPr txBox="true"/>
          <p:nvPr/>
        </p:nvSpPr>
        <p:spPr>
          <a:xfrm rot="0">
            <a:off x="1788620" y="7930588"/>
            <a:ext cx="7925160" cy="1380154"/>
          </a:xfrm>
          <a:prstGeom prst="rect">
            <a:avLst/>
          </a:prstGeom>
        </p:spPr>
        <p:txBody>
          <a:bodyPr anchor="t" rtlCol="false" tIns="0" lIns="0" bIns="0" rIns="0">
            <a:spAutoFit/>
          </a:bodyPr>
          <a:lstStyle/>
          <a:p>
            <a:pPr algn="just" marL="0" indent="0" lvl="0">
              <a:lnSpc>
                <a:spcPts val="2700"/>
              </a:lnSpc>
              <a:spcBef>
                <a:spcPct val="0"/>
              </a:spcBef>
            </a:pPr>
            <a:r>
              <a:rPr lang="en-US" sz="1929">
                <a:solidFill>
                  <a:srgbClr val="FFFFFF"/>
                </a:solidFill>
                <a:latin typeface="Poppins"/>
                <a:ea typeface="Poppins"/>
                <a:cs typeface="Poppins"/>
                <a:sym typeface="Poppins"/>
              </a:rPr>
              <a:t>GitHub digunakan oleh berbagai kalangan: mahasiswa, developer profesional, startup, perusahaan teknologi besar, hingga komunitas open source di seluruh dunia. GitHub menjadi jembatan antara pengembangan lokal dan kolaborasi global.</a:t>
            </a:r>
          </a:p>
        </p:txBody>
      </p:sp>
      <p:sp>
        <p:nvSpPr>
          <p:cNvPr name="Freeform 9" id="9"/>
          <p:cNvSpPr/>
          <p:nvPr/>
        </p:nvSpPr>
        <p:spPr>
          <a:xfrm flipH="false" flipV="false" rot="0">
            <a:off x="9399636" y="4665612"/>
            <a:ext cx="8098517" cy="8128073"/>
          </a:xfrm>
          <a:custGeom>
            <a:avLst/>
            <a:gdLst/>
            <a:ahLst/>
            <a:cxnLst/>
            <a:rect r="r" b="b" t="t" l="l"/>
            <a:pathLst>
              <a:path h="8128073" w="8098517">
                <a:moveTo>
                  <a:pt x="0" y="0"/>
                </a:moveTo>
                <a:lnTo>
                  <a:pt x="8098517" y="0"/>
                </a:lnTo>
                <a:lnTo>
                  <a:pt x="8098517" y="8128074"/>
                </a:lnTo>
                <a:lnTo>
                  <a:pt x="0" y="8128074"/>
                </a:lnTo>
                <a:lnTo>
                  <a:pt x="0" y="0"/>
                </a:lnTo>
                <a:close/>
              </a:path>
            </a:pathLst>
          </a:custGeom>
          <a:blipFill>
            <a:blip r:embed="rId2"/>
            <a:stretch>
              <a:fillRect l="0" t="0" r="0" b="0"/>
            </a:stretch>
          </a:blipFill>
        </p:spPr>
      </p:sp>
      <p:grpSp>
        <p:nvGrpSpPr>
          <p:cNvPr name="Group 10" id="10"/>
          <p:cNvGrpSpPr/>
          <p:nvPr/>
        </p:nvGrpSpPr>
        <p:grpSpPr>
          <a:xfrm rot="0">
            <a:off x="9848789" y="5129543"/>
            <a:ext cx="7200211" cy="72002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0470218" y="5750972"/>
            <a:ext cx="5957353" cy="595735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09790" y="4613046"/>
            <a:ext cx="14717065" cy="4993772"/>
            <a:chOff x="0" y="0"/>
            <a:chExt cx="3876099" cy="1315232"/>
          </a:xfrm>
        </p:grpSpPr>
        <p:sp>
          <p:nvSpPr>
            <p:cNvPr name="Freeform 3" id="3"/>
            <p:cNvSpPr/>
            <p:nvPr/>
          </p:nvSpPr>
          <p:spPr>
            <a:xfrm flipH="false" flipV="false" rot="0">
              <a:off x="0" y="0"/>
              <a:ext cx="3876099" cy="1315232"/>
            </a:xfrm>
            <a:custGeom>
              <a:avLst/>
              <a:gdLst/>
              <a:ahLst/>
              <a:cxnLst/>
              <a:rect r="r" b="b" t="t" l="l"/>
              <a:pathLst>
                <a:path h="1315232" w="3876099">
                  <a:moveTo>
                    <a:pt x="23146" y="0"/>
                  </a:moveTo>
                  <a:lnTo>
                    <a:pt x="3852953" y="0"/>
                  </a:lnTo>
                  <a:cubicBezTo>
                    <a:pt x="3859092" y="0"/>
                    <a:pt x="3864979" y="2439"/>
                    <a:pt x="3869320" y="6779"/>
                  </a:cubicBezTo>
                  <a:cubicBezTo>
                    <a:pt x="3873661" y="11120"/>
                    <a:pt x="3876099" y="17007"/>
                    <a:pt x="3876099" y="23146"/>
                  </a:cubicBezTo>
                  <a:lnTo>
                    <a:pt x="3876099" y="1292086"/>
                  </a:lnTo>
                  <a:cubicBezTo>
                    <a:pt x="3876099" y="1298225"/>
                    <a:pt x="3873661" y="1304112"/>
                    <a:pt x="3869320" y="1308453"/>
                  </a:cubicBezTo>
                  <a:cubicBezTo>
                    <a:pt x="3864979" y="1312794"/>
                    <a:pt x="3859092" y="1315232"/>
                    <a:pt x="3852953" y="1315232"/>
                  </a:cubicBezTo>
                  <a:lnTo>
                    <a:pt x="23146" y="1315232"/>
                  </a:lnTo>
                  <a:cubicBezTo>
                    <a:pt x="17007" y="1315232"/>
                    <a:pt x="11120" y="1312794"/>
                    <a:pt x="6779" y="1308453"/>
                  </a:cubicBezTo>
                  <a:cubicBezTo>
                    <a:pt x="2439" y="1304112"/>
                    <a:pt x="0" y="1298225"/>
                    <a:pt x="0" y="1292086"/>
                  </a:cubicBezTo>
                  <a:lnTo>
                    <a:pt x="0" y="23146"/>
                  </a:lnTo>
                  <a:cubicBezTo>
                    <a:pt x="0" y="17007"/>
                    <a:pt x="2439" y="11120"/>
                    <a:pt x="6779" y="6779"/>
                  </a:cubicBezTo>
                  <a:cubicBezTo>
                    <a:pt x="11120" y="2439"/>
                    <a:pt x="17007" y="0"/>
                    <a:pt x="23146" y="0"/>
                  </a:cubicBezTo>
                  <a:close/>
                </a:path>
              </a:pathLst>
            </a:custGeom>
            <a:solidFill>
              <a:srgbClr val="FFFFFF"/>
            </a:solidFill>
          </p:spPr>
        </p:sp>
        <p:sp>
          <p:nvSpPr>
            <p:cNvPr name="TextBox 4" id="4"/>
            <p:cNvSpPr txBox="true"/>
            <p:nvPr/>
          </p:nvSpPr>
          <p:spPr>
            <a:xfrm>
              <a:off x="0" y="-38100"/>
              <a:ext cx="3876099" cy="1353332"/>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2654177" y="3133410"/>
            <a:ext cx="12979645" cy="858167"/>
          </a:xfrm>
          <a:prstGeom prst="rect">
            <a:avLst/>
          </a:prstGeom>
        </p:spPr>
        <p:txBody>
          <a:bodyPr anchor="t" rtlCol="false" tIns="0" lIns="0" bIns="0" rIns="0">
            <a:spAutoFit/>
          </a:bodyPr>
          <a:lstStyle/>
          <a:p>
            <a:pPr algn="ctr" marL="0" indent="0" lvl="0">
              <a:lnSpc>
                <a:spcPts val="3200"/>
              </a:lnSpc>
              <a:spcBef>
                <a:spcPct val="0"/>
              </a:spcBef>
            </a:pPr>
            <a:r>
              <a:rPr lang="en-US" sz="3048" spc="-234">
                <a:solidFill>
                  <a:srgbClr val="FFFFFF"/>
                </a:solidFill>
                <a:latin typeface="Poppins"/>
                <a:ea typeface="Poppins"/>
                <a:cs typeface="Poppins"/>
                <a:sym typeface="Poppins"/>
              </a:rPr>
              <a:t>Git adalah alat lokal, GitHub adalah tempat penyimpanan online — keduanya saling melengkapi</a:t>
            </a:r>
          </a:p>
        </p:txBody>
      </p:sp>
      <p:sp>
        <p:nvSpPr>
          <p:cNvPr name="TextBox 6" id="6"/>
          <p:cNvSpPr txBox="true"/>
          <p:nvPr/>
        </p:nvSpPr>
        <p:spPr>
          <a:xfrm rot="0">
            <a:off x="4163507" y="4976000"/>
            <a:ext cx="10060573" cy="1775010"/>
          </a:xfrm>
          <a:prstGeom prst="rect">
            <a:avLst/>
          </a:prstGeom>
        </p:spPr>
        <p:txBody>
          <a:bodyPr anchor="t" rtlCol="false" tIns="0" lIns="0" bIns="0" rIns="0">
            <a:spAutoFit/>
          </a:bodyPr>
          <a:lstStyle/>
          <a:p>
            <a:pPr algn="ctr" marL="0" indent="0" lvl="0">
              <a:lnSpc>
                <a:spcPts val="2813"/>
              </a:lnSpc>
              <a:spcBef>
                <a:spcPct val="0"/>
              </a:spcBef>
            </a:pPr>
            <a:r>
              <a:rPr lang="en-US" sz="2009">
                <a:solidFill>
                  <a:srgbClr val="2F2A2A"/>
                </a:solidFill>
                <a:latin typeface="Poppins"/>
                <a:ea typeface="Poppins"/>
                <a:cs typeface="Poppins"/>
                <a:sym typeface="Poppins"/>
              </a:rPr>
              <a:t>Fungsi GitHub:</a:t>
            </a:r>
          </a:p>
          <a:p>
            <a:pPr algn="ctr" marL="0" indent="0" lvl="0">
              <a:lnSpc>
                <a:spcPts val="2813"/>
              </a:lnSpc>
              <a:spcBef>
                <a:spcPct val="0"/>
              </a:spcBef>
            </a:pPr>
            <a:r>
              <a:rPr lang="en-US" sz="2009">
                <a:solidFill>
                  <a:srgbClr val="2F2A2A"/>
                </a:solidFill>
                <a:latin typeface="Poppins"/>
                <a:ea typeface="Poppins"/>
                <a:cs typeface="Poppins"/>
                <a:sym typeface="Poppins"/>
              </a:rPr>
              <a:t>• Penyimpanan repository online</a:t>
            </a:r>
          </a:p>
          <a:p>
            <a:pPr algn="ctr" marL="0" indent="0" lvl="0">
              <a:lnSpc>
                <a:spcPts val="2813"/>
              </a:lnSpc>
              <a:spcBef>
                <a:spcPct val="0"/>
              </a:spcBef>
            </a:pPr>
            <a:r>
              <a:rPr lang="en-US" sz="2009">
                <a:solidFill>
                  <a:srgbClr val="2F2A2A"/>
                </a:solidFill>
                <a:latin typeface="Poppins"/>
                <a:ea typeface="Poppins"/>
                <a:cs typeface="Poppins"/>
                <a:sym typeface="Poppins"/>
              </a:rPr>
              <a:t>• Kolaborasi tim secara remote</a:t>
            </a:r>
          </a:p>
          <a:p>
            <a:pPr algn="ctr" marL="0" indent="0" lvl="0">
              <a:lnSpc>
                <a:spcPts val="2813"/>
              </a:lnSpc>
              <a:spcBef>
                <a:spcPct val="0"/>
              </a:spcBef>
            </a:pPr>
            <a:r>
              <a:rPr lang="en-US" sz="2009">
                <a:solidFill>
                  <a:srgbClr val="2F2A2A"/>
                </a:solidFill>
                <a:latin typeface="Poppins"/>
                <a:ea typeface="Poppins"/>
                <a:cs typeface="Poppins"/>
                <a:sym typeface="Poppins"/>
              </a:rPr>
              <a:t>• Portofolio project developer</a:t>
            </a:r>
          </a:p>
          <a:p>
            <a:pPr algn="ctr" marL="0" indent="0" lvl="0">
              <a:lnSpc>
                <a:spcPts val="2813"/>
              </a:lnSpc>
              <a:spcBef>
                <a:spcPct val="0"/>
              </a:spcBef>
            </a:pPr>
            <a:r>
              <a:rPr lang="en-US" sz="2009">
                <a:solidFill>
                  <a:srgbClr val="2F2A2A"/>
                </a:solidFill>
                <a:latin typeface="Poppins"/>
                <a:ea typeface="Poppins"/>
                <a:cs typeface="Poppins"/>
                <a:sym typeface="Poppins"/>
              </a:rPr>
              <a:t>• Backup data project secara otomatis</a:t>
            </a:r>
          </a:p>
        </p:txBody>
      </p:sp>
      <p:sp>
        <p:nvSpPr>
          <p:cNvPr name="TextBox 7" id="7"/>
          <p:cNvSpPr txBox="true"/>
          <p:nvPr/>
        </p:nvSpPr>
        <p:spPr>
          <a:xfrm rot="0">
            <a:off x="764046" y="1445421"/>
            <a:ext cx="16759907" cy="1044522"/>
          </a:xfrm>
          <a:prstGeom prst="rect">
            <a:avLst/>
          </a:prstGeom>
        </p:spPr>
        <p:txBody>
          <a:bodyPr anchor="t" rtlCol="false" tIns="0" lIns="0" bIns="0" rIns="0">
            <a:spAutoFit/>
          </a:bodyPr>
          <a:lstStyle/>
          <a:p>
            <a:pPr algn="ctr" marL="0" indent="0" lvl="0">
              <a:lnSpc>
                <a:spcPts val="7451"/>
              </a:lnSpc>
            </a:pPr>
            <a:r>
              <a:rPr lang="en-US" b="true" sz="7096" spc="-510">
                <a:solidFill>
                  <a:srgbClr val="FFFFFF"/>
                </a:solidFill>
                <a:latin typeface="Poppins Bold"/>
                <a:ea typeface="Poppins Bold"/>
                <a:cs typeface="Poppins Bold"/>
                <a:sym typeface="Poppins Bold"/>
              </a:rPr>
              <a:t>FUNGSI GITHUB &amp; PERBEDAAN DENGAN GIT</a:t>
            </a:r>
          </a:p>
        </p:txBody>
      </p:sp>
      <p:sp>
        <p:nvSpPr>
          <p:cNvPr name="TextBox 8" id="8"/>
          <p:cNvSpPr txBox="true"/>
          <p:nvPr/>
        </p:nvSpPr>
        <p:spPr>
          <a:xfrm rot="0">
            <a:off x="4589819" y="7341559"/>
            <a:ext cx="10056298" cy="1420650"/>
          </a:xfrm>
          <a:prstGeom prst="rect">
            <a:avLst/>
          </a:prstGeom>
        </p:spPr>
        <p:txBody>
          <a:bodyPr anchor="t" rtlCol="false" tIns="0" lIns="0" bIns="0" rIns="0">
            <a:spAutoFit/>
          </a:bodyPr>
          <a:lstStyle/>
          <a:p>
            <a:pPr algn="ctr" marL="0" indent="0" lvl="0">
              <a:lnSpc>
                <a:spcPts val="2812"/>
              </a:lnSpc>
              <a:spcBef>
                <a:spcPct val="0"/>
              </a:spcBef>
            </a:pPr>
            <a:r>
              <a:rPr lang="en-US" sz="2008">
                <a:solidFill>
                  <a:srgbClr val="2F2A2A"/>
                </a:solidFill>
                <a:latin typeface="Poppins"/>
                <a:ea typeface="Poppins"/>
                <a:cs typeface="Poppins"/>
                <a:sym typeface="Poppins"/>
              </a:rPr>
              <a:t>Perbedaan Git vs GitHub:</a:t>
            </a:r>
          </a:p>
          <a:p>
            <a:pPr algn="ctr" marL="0" indent="0" lvl="0">
              <a:lnSpc>
                <a:spcPts val="2812"/>
              </a:lnSpc>
              <a:spcBef>
                <a:spcPct val="0"/>
              </a:spcBef>
            </a:pPr>
            <a:r>
              <a:rPr lang="en-US" sz="2008">
                <a:solidFill>
                  <a:srgbClr val="2F2A2A"/>
                </a:solidFill>
                <a:latin typeface="Poppins"/>
                <a:ea typeface="Poppins"/>
                <a:cs typeface="Poppins"/>
                <a:sym typeface="Poppins"/>
              </a:rPr>
              <a:t>• Git: software lokal, mengelola perubahan, tidak perlu internet</a:t>
            </a:r>
          </a:p>
          <a:p>
            <a:pPr algn="ctr" marL="0" indent="0" lvl="0">
              <a:lnSpc>
                <a:spcPts val="2812"/>
              </a:lnSpc>
              <a:spcBef>
                <a:spcPct val="0"/>
              </a:spcBef>
            </a:pPr>
            <a:r>
              <a:rPr lang="en-US" sz="2008">
                <a:solidFill>
                  <a:srgbClr val="2F2A2A"/>
                </a:solidFill>
                <a:latin typeface="Poppins"/>
                <a:ea typeface="Poppins"/>
                <a:cs typeface="Poppins"/>
                <a:sym typeface="Poppins"/>
              </a:rPr>
              <a:t>• GitHub: platform internet, menyimpan repository, perlu koneksi</a:t>
            </a:r>
          </a:p>
          <a:p>
            <a:pPr algn="ctr" marL="0" indent="0" lvl="0">
              <a:lnSpc>
                <a:spcPts val="2812"/>
              </a:lnSpc>
              <a:spcBef>
                <a:spcPct val="0"/>
              </a:spcBef>
            </a:pPr>
            <a:r>
              <a:rPr lang="en-US" sz="2008">
                <a:solidFill>
                  <a:srgbClr val="2F2A2A"/>
                </a:solidFill>
                <a:latin typeface="Poppins"/>
                <a:ea typeface="Poppins"/>
                <a:cs typeface="Poppins"/>
                <a:sym typeface="Poppins"/>
              </a:rPr>
              <a:t>• Kesimpulan: Git adalah alat, GitHub adalah tempat penyimpanan</a:t>
            </a:r>
          </a:p>
        </p:txBody>
      </p:sp>
      <p:sp>
        <p:nvSpPr>
          <p:cNvPr name="Freeform 9" id="9"/>
          <p:cNvSpPr/>
          <p:nvPr/>
        </p:nvSpPr>
        <p:spPr>
          <a:xfrm flipH="false" flipV="false" rot="0">
            <a:off x="13290501" y="3281685"/>
            <a:ext cx="6302133" cy="6325133"/>
          </a:xfrm>
          <a:custGeom>
            <a:avLst/>
            <a:gdLst/>
            <a:ahLst/>
            <a:cxnLst/>
            <a:rect r="r" b="b" t="t" l="l"/>
            <a:pathLst>
              <a:path h="6325133" w="6302133">
                <a:moveTo>
                  <a:pt x="0" y="0"/>
                </a:moveTo>
                <a:lnTo>
                  <a:pt x="6302133" y="0"/>
                </a:lnTo>
                <a:lnTo>
                  <a:pt x="6302133" y="6325133"/>
                </a:lnTo>
                <a:lnTo>
                  <a:pt x="0" y="6325133"/>
                </a:lnTo>
                <a:lnTo>
                  <a:pt x="0" y="0"/>
                </a:lnTo>
                <a:close/>
              </a:path>
            </a:pathLst>
          </a:custGeom>
          <a:blipFill>
            <a:blip r:embed="rId2"/>
            <a:stretch>
              <a:fillRect l="0" t="0" r="0" b="0"/>
            </a:stretch>
          </a:blipFill>
        </p:spPr>
      </p:sp>
      <p:grpSp>
        <p:nvGrpSpPr>
          <p:cNvPr name="Group 10" id="10"/>
          <p:cNvGrpSpPr/>
          <p:nvPr/>
        </p:nvGrpSpPr>
        <p:grpSpPr>
          <a:xfrm rot="0">
            <a:off x="13640025" y="3642709"/>
            <a:ext cx="5603086" cy="560308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4123611" y="4126295"/>
            <a:ext cx="4635914" cy="463591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
        <p:nvSpPr>
          <p:cNvPr name="Freeform 15" id="15"/>
          <p:cNvSpPr/>
          <p:nvPr/>
        </p:nvSpPr>
        <p:spPr>
          <a:xfrm flipH="false" flipV="false" rot="0">
            <a:off x="-1305517" y="5283154"/>
            <a:ext cx="6302133" cy="6325133"/>
          </a:xfrm>
          <a:custGeom>
            <a:avLst/>
            <a:gdLst/>
            <a:ahLst/>
            <a:cxnLst/>
            <a:rect r="r" b="b" t="t" l="l"/>
            <a:pathLst>
              <a:path h="6325133" w="6302133">
                <a:moveTo>
                  <a:pt x="0" y="0"/>
                </a:moveTo>
                <a:lnTo>
                  <a:pt x="6302133" y="0"/>
                </a:lnTo>
                <a:lnTo>
                  <a:pt x="6302133" y="6325133"/>
                </a:lnTo>
                <a:lnTo>
                  <a:pt x="0" y="6325133"/>
                </a:lnTo>
                <a:lnTo>
                  <a:pt x="0" y="0"/>
                </a:lnTo>
                <a:close/>
              </a:path>
            </a:pathLst>
          </a:custGeom>
          <a:blipFill>
            <a:blip r:embed="rId2"/>
            <a:stretch>
              <a:fillRect l="0" t="0" r="0" b="0"/>
            </a:stretch>
          </a:blipFill>
        </p:spPr>
      </p:sp>
      <p:grpSp>
        <p:nvGrpSpPr>
          <p:cNvPr name="Group 16" id="16"/>
          <p:cNvGrpSpPr/>
          <p:nvPr/>
        </p:nvGrpSpPr>
        <p:grpSpPr>
          <a:xfrm rot="0">
            <a:off x="-955993" y="5644178"/>
            <a:ext cx="5603086" cy="560308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472407" y="6127764"/>
            <a:ext cx="4635914" cy="463591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66675" cap="sq">
              <a:solidFill>
                <a:srgbClr val="FFFFFF"/>
              </a:solidFill>
              <a:prstDash val="solid"/>
              <a:miter/>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677228" y="1549759"/>
            <a:ext cx="11474423" cy="4814868"/>
            <a:chOff x="0" y="0"/>
            <a:chExt cx="3022070" cy="1268113"/>
          </a:xfrm>
        </p:grpSpPr>
        <p:sp>
          <p:nvSpPr>
            <p:cNvPr name="Freeform 3" id="3"/>
            <p:cNvSpPr/>
            <p:nvPr/>
          </p:nvSpPr>
          <p:spPr>
            <a:xfrm flipH="false" flipV="false" rot="0">
              <a:off x="0" y="0"/>
              <a:ext cx="3022070" cy="1268113"/>
            </a:xfrm>
            <a:custGeom>
              <a:avLst/>
              <a:gdLst/>
              <a:ahLst/>
              <a:cxnLst/>
              <a:rect r="r" b="b" t="t" l="l"/>
              <a:pathLst>
                <a:path h="1268113" w="3022070">
                  <a:moveTo>
                    <a:pt x="29687" y="0"/>
                  </a:moveTo>
                  <a:lnTo>
                    <a:pt x="2992383" y="0"/>
                  </a:lnTo>
                  <a:cubicBezTo>
                    <a:pt x="3000257" y="0"/>
                    <a:pt x="3007808" y="3128"/>
                    <a:pt x="3013375" y="8695"/>
                  </a:cubicBezTo>
                  <a:cubicBezTo>
                    <a:pt x="3018943" y="14263"/>
                    <a:pt x="3022070" y="21814"/>
                    <a:pt x="3022070" y="29687"/>
                  </a:cubicBezTo>
                  <a:lnTo>
                    <a:pt x="3022070" y="1238426"/>
                  </a:lnTo>
                  <a:cubicBezTo>
                    <a:pt x="3022070" y="1246300"/>
                    <a:pt x="3018943" y="1253851"/>
                    <a:pt x="3013375" y="1259418"/>
                  </a:cubicBezTo>
                  <a:cubicBezTo>
                    <a:pt x="3007808" y="1264986"/>
                    <a:pt x="3000257" y="1268113"/>
                    <a:pt x="2992383" y="1268113"/>
                  </a:cubicBezTo>
                  <a:lnTo>
                    <a:pt x="29687" y="1268113"/>
                  </a:lnTo>
                  <a:cubicBezTo>
                    <a:pt x="21814" y="1268113"/>
                    <a:pt x="14263" y="1264986"/>
                    <a:pt x="8695" y="1259418"/>
                  </a:cubicBezTo>
                  <a:cubicBezTo>
                    <a:pt x="3128" y="1253851"/>
                    <a:pt x="0" y="1246300"/>
                    <a:pt x="0" y="1238426"/>
                  </a:cubicBezTo>
                  <a:lnTo>
                    <a:pt x="0" y="29687"/>
                  </a:lnTo>
                  <a:cubicBezTo>
                    <a:pt x="0" y="21814"/>
                    <a:pt x="3128" y="14263"/>
                    <a:pt x="8695" y="8695"/>
                  </a:cubicBezTo>
                  <a:cubicBezTo>
                    <a:pt x="14263" y="3128"/>
                    <a:pt x="21814" y="0"/>
                    <a:pt x="29687" y="0"/>
                  </a:cubicBezTo>
                  <a:close/>
                </a:path>
              </a:pathLst>
            </a:custGeom>
            <a:solidFill>
              <a:srgbClr val="FFFFFF"/>
            </a:solidFill>
          </p:spPr>
        </p:sp>
        <p:sp>
          <p:nvSpPr>
            <p:cNvPr name="TextBox 4" id="4"/>
            <p:cNvSpPr txBox="true"/>
            <p:nvPr/>
          </p:nvSpPr>
          <p:spPr>
            <a:xfrm>
              <a:off x="0" y="-38100"/>
              <a:ext cx="3022070" cy="1306213"/>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2065713" y="1961491"/>
            <a:ext cx="5480638" cy="4038897"/>
          </a:xfrm>
          <a:prstGeom prst="rect">
            <a:avLst/>
          </a:prstGeom>
        </p:spPr>
        <p:txBody>
          <a:bodyPr anchor="t" rtlCol="false" tIns="0" lIns="0" bIns="0" rIns="0">
            <a:spAutoFit/>
          </a:bodyPr>
          <a:lstStyle/>
          <a:p>
            <a:pPr algn="l" marL="0" indent="0" lvl="0">
              <a:lnSpc>
                <a:spcPts val="10268"/>
              </a:lnSpc>
            </a:pPr>
            <a:r>
              <a:rPr lang="en-US" b="true" sz="9779" spc="-704">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KONSEP PENTING GIT</a:t>
            </a:r>
          </a:p>
        </p:txBody>
      </p:sp>
      <p:sp>
        <p:nvSpPr>
          <p:cNvPr name="TextBox 6" id="6"/>
          <p:cNvSpPr txBox="true"/>
          <p:nvPr/>
        </p:nvSpPr>
        <p:spPr>
          <a:xfrm rot="0">
            <a:off x="1677228" y="6860545"/>
            <a:ext cx="8864012" cy="858167"/>
          </a:xfrm>
          <a:prstGeom prst="rect">
            <a:avLst/>
          </a:prstGeom>
        </p:spPr>
        <p:txBody>
          <a:bodyPr anchor="t" rtlCol="false" tIns="0" lIns="0" bIns="0" rIns="0">
            <a:spAutoFit/>
          </a:bodyPr>
          <a:lstStyle/>
          <a:p>
            <a:pPr algn="l" marL="0" indent="0" lvl="0">
              <a:lnSpc>
                <a:spcPts val="3200"/>
              </a:lnSpc>
              <a:spcBef>
                <a:spcPct val="0"/>
              </a:spcBef>
            </a:pPr>
            <a:r>
              <a:rPr lang="en-US" sz="3048" spc="-234">
                <a:solidFill>
                  <a:srgbClr val="FFFFFF"/>
                </a:solidFill>
                <a:latin typeface="Poppins"/>
                <a:ea typeface="Poppins"/>
                <a:cs typeface="Poppins"/>
                <a:sym typeface="Poppins"/>
              </a:rPr>
              <a:t>Repository, Commit, dan Branch: Tiga Pilar Utama dalam Git</a:t>
            </a:r>
          </a:p>
        </p:txBody>
      </p:sp>
      <p:sp>
        <p:nvSpPr>
          <p:cNvPr name="TextBox 7" id="7"/>
          <p:cNvSpPr txBox="true"/>
          <p:nvPr/>
        </p:nvSpPr>
        <p:spPr>
          <a:xfrm rot="0">
            <a:off x="1677228" y="7886378"/>
            <a:ext cx="10117146" cy="919131"/>
          </a:xfrm>
          <a:prstGeom prst="rect">
            <a:avLst/>
          </a:prstGeom>
        </p:spPr>
        <p:txBody>
          <a:bodyPr anchor="t" rtlCol="false" tIns="0" lIns="0" bIns="0" rIns="0">
            <a:spAutoFit/>
          </a:bodyPr>
          <a:lstStyle/>
          <a:p>
            <a:pPr algn="l" marL="0" indent="0" lvl="0">
              <a:lnSpc>
                <a:spcPts val="2379"/>
              </a:lnSpc>
              <a:spcBef>
                <a:spcPct val="0"/>
              </a:spcBef>
            </a:pPr>
            <a:r>
              <a:rPr lang="en-US" sz="1699">
                <a:solidFill>
                  <a:srgbClr val="FFFFFF"/>
                </a:solidFill>
                <a:latin typeface="Poppins"/>
                <a:ea typeface="Poppins"/>
                <a:cs typeface="Poppins"/>
                <a:sym typeface="Poppins"/>
              </a:rPr>
              <a:t>Repository adalah folder project yang dikelola Git, berisi source code, dokumentasi, dan riwayat perubahan. Commit adalah checkpoint untuk menyimpan perubahan ke riwayat Git. Branch adalah cabang pengembangan — contoh: main → feature-login, feature-dashboard.</a:t>
            </a:r>
          </a:p>
        </p:txBody>
      </p:sp>
      <p:sp>
        <p:nvSpPr>
          <p:cNvPr name="TextBox 8" id="8"/>
          <p:cNvSpPr txBox="true"/>
          <p:nvPr/>
        </p:nvSpPr>
        <p:spPr>
          <a:xfrm rot="0">
            <a:off x="13525679" y="2015668"/>
            <a:ext cx="4465652" cy="1156543"/>
          </a:xfrm>
          <a:prstGeom prst="rect">
            <a:avLst/>
          </a:prstGeom>
        </p:spPr>
        <p:txBody>
          <a:bodyPr anchor="t" rtlCol="false" tIns="0" lIns="0" bIns="0" rIns="0">
            <a:spAutoFit/>
          </a:bodyPr>
          <a:lstStyle/>
          <a:p>
            <a:pPr algn="l" marL="0" indent="0" lvl="0">
              <a:lnSpc>
                <a:spcPts val="2267"/>
              </a:lnSpc>
              <a:spcBef>
                <a:spcPct val="0"/>
              </a:spcBef>
            </a:pPr>
            <a:r>
              <a:rPr lang="en-US" sz="1619">
                <a:solidFill>
                  <a:srgbClr val="FFFFFF"/>
                </a:solidFill>
                <a:latin typeface="Poppins"/>
                <a:ea typeface="Poppins"/>
                <a:cs typeface="Poppins"/>
                <a:sym typeface="Poppins"/>
              </a:rPr>
              <a:t>Contoh pesan commit yang baik: "Tambah halaman login", "Perbaiki validasi form". Hindari pesan seperti "Update" atau "Fix" yang tidak informatif.</a:t>
            </a:r>
          </a:p>
        </p:txBody>
      </p:sp>
      <p:sp>
        <p:nvSpPr>
          <p:cNvPr name="Freeform 9" id="9"/>
          <p:cNvSpPr/>
          <p:nvPr/>
        </p:nvSpPr>
        <p:spPr>
          <a:xfrm flipH="false" flipV="false" rot="0">
            <a:off x="7414440" y="-1344916"/>
            <a:ext cx="5768299" cy="5789351"/>
          </a:xfrm>
          <a:custGeom>
            <a:avLst/>
            <a:gdLst/>
            <a:ahLst/>
            <a:cxnLst/>
            <a:rect r="r" b="b" t="t" l="l"/>
            <a:pathLst>
              <a:path h="5789351" w="5768299">
                <a:moveTo>
                  <a:pt x="0" y="0"/>
                </a:moveTo>
                <a:lnTo>
                  <a:pt x="5768298" y="0"/>
                </a:lnTo>
                <a:lnTo>
                  <a:pt x="5768298" y="5789350"/>
                </a:lnTo>
                <a:lnTo>
                  <a:pt x="0" y="5789350"/>
                </a:lnTo>
                <a:lnTo>
                  <a:pt x="0" y="0"/>
                </a:lnTo>
                <a:close/>
              </a:path>
            </a:pathLst>
          </a:custGeom>
          <a:blipFill>
            <a:blip r:embed="rId2"/>
            <a:stretch>
              <a:fillRect l="0" t="0" r="0" b="0"/>
            </a:stretch>
          </a:blipFill>
        </p:spPr>
      </p:sp>
      <p:grpSp>
        <p:nvGrpSpPr>
          <p:cNvPr name="Group 10" id="10"/>
          <p:cNvGrpSpPr/>
          <p:nvPr/>
        </p:nvGrpSpPr>
        <p:grpSpPr>
          <a:xfrm rot="0">
            <a:off x="7734356" y="-1014474"/>
            <a:ext cx="5128466" cy="512846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8176979" y="-571851"/>
            <a:ext cx="4243220" cy="424322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
        <p:nvSpPr>
          <p:cNvPr name="Freeform 15" id="15"/>
          <p:cNvSpPr/>
          <p:nvPr/>
        </p:nvSpPr>
        <p:spPr>
          <a:xfrm flipH="false" flipV="false" rot="0">
            <a:off x="11217866" y="3520950"/>
            <a:ext cx="7509949" cy="7537357"/>
          </a:xfrm>
          <a:custGeom>
            <a:avLst/>
            <a:gdLst/>
            <a:ahLst/>
            <a:cxnLst/>
            <a:rect r="r" b="b" t="t" l="l"/>
            <a:pathLst>
              <a:path h="7537357" w="7509949">
                <a:moveTo>
                  <a:pt x="0" y="0"/>
                </a:moveTo>
                <a:lnTo>
                  <a:pt x="7509949" y="0"/>
                </a:lnTo>
                <a:lnTo>
                  <a:pt x="7509949" y="7537357"/>
                </a:lnTo>
                <a:lnTo>
                  <a:pt x="0" y="7537357"/>
                </a:lnTo>
                <a:lnTo>
                  <a:pt x="0" y="0"/>
                </a:lnTo>
                <a:close/>
              </a:path>
            </a:pathLst>
          </a:custGeom>
          <a:blipFill>
            <a:blip r:embed="rId2"/>
            <a:stretch>
              <a:fillRect l="0" t="0" r="0" b="0"/>
            </a:stretch>
          </a:blipFill>
        </p:spPr>
      </p:sp>
      <p:grpSp>
        <p:nvGrpSpPr>
          <p:cNvPr name="Group 16" id="16"/>
          <p:cNvGrpSpPr/>
          <p:nvPr/>
        </p:nvGrpSpPr>
        <p:grpSpPr>
          <a:xfrm rot="0">
            <a:off x="11634376" y="3951164"/>
            <a:ext cx="6676929" cy="667692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12210642" y="4527430"/>
            <a:ext cx="5524396" cy="552439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66675" cap="sq">
              <a:solidFill>
                <a:srgbClr val="FFFFFF"/>
              </a:solidFill>
              <a:prstDash val="solid"/>
              <a:miter/>
            </a:ln>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a:off x="11347169" y="6742773"/>
            <a:ext cx="0" cy="2515527"/>
          </a:xfrm>
          <a:prstGeom prst="line">
            <a:avLst/>
          </a:prstGeom>
          <a:ln cap="flat" w="28575">
            <a:solidFill>
              <a:srgbClr val="FFFFFF"/>
            </a:solidFill>
            <a:prstDash val="solid"/>
            <a:headEnd type="none" len="sm" w="sm"/>
            <a:tailEnd type="none" len="sm" w="sm"/>
          </a:ln>
        </p:spPr>
      </p:sp>
      <p:grpSp>
        <p:nvGrpSpPr>
          <p:cNvPr name="Group 3" id="3"/>
          <p:cNvGrpSpPr/>
          <p:nvPr/>
        </p:nvGrpSpPr>
        <p:grpSpPr>
          <a:xfrm rot="0">
            <a:off x="1677228" y="1549759"/>
            <a:ext cx="17601897" cy="4814868"/>
            <a:chOff x="0" y="0"/>
            <a:chExt cx="4635891" cy="1268113"/>
          </a:xfrm>
        </p:grpSpPr>
        <p:sp>
          <p:nvSpPr>
            <p:cNvPr name="Freeform 4" id="4"/>
            <p:cNvSpPr/>
            <p:nvPr/>
          </p:nvSpPr>
          <p:spPr>
            <a:xfrm flipH="false" flipV="false" rot="0">
              <a:off x="0" y="0"/>
              <a:ext cx="4635891" cy="1268113"/>
            </a:xfrm>
            <a:custGeom>
              <a:avLst/>
              <a:gdLst/>
              <a:ahLst/>
              <a:cxnLst/>
              <a:rect r="r" b="b" t="t" l="l"/>
              <a:pathLst>
                <a:path h="1268113" w="4635891">
                  <a:moveTo>
                    <a:pt x="19353" y="0"/>
                  </a:moveTo>
                  <a:lnTo>
                    <a:pt x="4616538" y="0"/>
                  </a:lnTo>
                  <a:cubicBezTo>
                    <a:pt x="4621671" y="0"/>
                    <a:pt x="4626593" y="2039"/>
                    <a:pt x="4630222" y="5668"/>
                  </a:cubicBezTo>
                  <a:cubicBezTo>
                    <a:pt x="4633852" y="9298"/>
                    <a:pt x="4635891" y="14220"/>
                    <a:pt x="4635891" y="19353"/>
                  </a:cubicBezTo>
                  <a:lnTo>
                    <a:pt x="4635891" y="1248761"/>
                  </a:lnTo>
                  <a:cubicBezTo>
                    <a:pt x="4635891" y="1253893"/>
                    <a:pt x="4633852" y="1258816"/>
                    <a:pt x="4630222" y="1262445"/>
                  </a:cubicBezTo>
                  <a:cubicBezTo>
                    <a:pt x="4626593" y="1266074"/>
                    <a:pt x="4621671" y="1268113"/>
                    <a:pt x="4616538" y="1268113"/>
                  </a:cubicBezTo>
                  <a:lnTo>
                    <a:pt x="19353" y="1268113"/>
                  </a:lnTo>
                  <a:cubicBezTo>
                    <a:pt x="8665" y="1268113"/>
                    <a:pt x="0" y="1259449"/>
                    <a:pt x="0" y="1248761"/>
                  </a:cubicBezTo>
                  <a:lnTo>
                    <a:pt x="0" y="19353"/>
                  </a:lnTo>
                  <a:cubicBezTo>
                    <a:pt x="0" y="14220"/>
                    <a:pt x="2039" y="9298"/>
                    <a:pt x="5668" y="5668"/>
                  </a:cubicBezTo>
                  <a:cubicBezTo>
                    <a:pt x="9298" y="2039"/>
                    <a:pt x="14220" y="0"/>
                    <a:pt x="19353" y="0"/>
                  </a:cubicBezTo>
                  <a:close/>
                </a:path>
              </a:pathLst>
            </a:custGeom>
            <a:solidFill>
              <a:srgbClr val="FFFFFF"/>
            </a:solidFill>
          </p:spPr>
        </p:sp>
        <p:sp>
          <p:nvSpPr>
            <p:cNvPr name="TextBox 5" id="5"/>
            <p:cNvSpPr txBox="true"/>
            <p:nvPr/>
          </p:nvSpPr>
          <p:spPr>
            <a:xfrm>
              <a:off x="0" y="-38100"/>
              <a:ext cx="4635891" cy="1306213"/>
            </a:xfrm>
            <a:prstGeom prst="rect">
              <a:avLst/>
            </a:prstGeom>
          </p:spPr>
          <p:txBody>
            <a:bodyPr anchor="ctr" rtlCol="false" tIns="50800" lIns="50800" bIns="50800" rIns="50800"/>
            <a:lstStyle/>
            <a:p>
              <a:pPr algn="ctr" marL="0" indent="0" lvl="0">
                <a:lnSpc>
                  <a:spcPts val="2659"/>
                </a:lnSpc>
              </a:pPr>
            </a:p>
          </p:txBody>
        </p:sp>
      </p:grpSp>
      <p:sp>
        <p:nvSpPr>
          <p:cNvPr name="Freeform 6" id="6"/>
          <p:cNvSpPr/>
          <p:nvPr/>
        </p:nvSpPr>
        <p:spPr>
          <a:xfrm flipH="false" flipV="false" rot="0">
            <a:off x="12740582" y="-1088648"/>
            <a:ext cx="7426172" cy="7453275"/>
          </a:xfrm>
          <a:custGeom>
            <a:avLst/>
            <a:gdLst/>
            <a:ahLst/>
            <a:cxnLst/>
            <a:rect r="r" b="b" t="t" l="l"/>
            <a:pathLst>
              <a:path h="7453275" w="7426172">
                <a:moveTo>
                  <a:pt x="0" y="0"/>
                </a:moveTo>
                <a:lnTo>
                  <a:pt x="7426172" y="0"/>
                </a:lnTo>
                <a:lnTo>
                  <a:pt x="7426172" y="7453275"/>
                </a:lnTo>
                <a:lnTo>
                  <a:pt x="0" y="7453275"/>
                </a:lnTo>
                <a:lnTo>
                  <a:pt x="0" y="0"/>
                </a:lnTo>
                <a:close/>
              </a:path>
            </a:pathLst>
          </a:custGeom>
          <a:blipFill>
            <a:blip r:embed="rId2"/>
            <a:stretch>
              <a:fillRect l="0" t="0" r="0" b="0"/>
            </a:stretch>
          </a:blipFill>
        </p:spPr>
      </p:sp>
      <p:grpSp>
        <p:nvGrpSpPr>
          <p:cNvPr name="Group 7" id="7"/>
          <p:cNvGrpSpPr/>
          <p:nvPr/>
        </p:nvGrpSpPr>
        <p:grpSpPr>
          <a:xfrm rot="0">
            <a:off x="13152445" y="-663233"/>
            <a:ext cx="6602445" cy="660244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13722283" y="-93395"/>
            <a:ext cx="5462770" cy="546277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
        <p:nvSpPr>
          <p:cNvPr name="TextBox 12" id="12"/>
          <p:cNvSpPr txBox="true"/>
          <p:nvPr/>
        </p:nvSpPr>
        <p:spPr>
          <a:xfrm rot="0">
            <a:off x="2065713" y="1961491"/>
            <a:ext cx="6196255" cy="3683015"/>
          </a:xfrm>
          <a:prstGeom prst="rect">
            <a:avLst/>
          </a:prstGeom>
        </p:spPr>
        <p:txBody>
          <a:bodyPr anchor="t" rtlCol="false" tIns="0" lIns="0" bIns="0" rIns="0">
            <a:spAutoFit/>
          </a:bodyPr>
          <a:lstStyle/>
          <a:p>
            <a:pPr algn="l" marL="0" indent="0" lvl="0">
              <a:lnSpc>
                <a:spcPts val="9346"/>
              </a:lnSpc>
            </a:pPr>
            <a:r>
              <a:rPr lang="en-US" b="true" sz="8901" spc="-640">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STAGING AREA &amp; WORKFLOW</a:t>
            </a:r>
          </a:p>
        </p:txBody>
      </p:sp>
      <p:sp>
        <p:nvSpPr>
          <p:cNvPr name="TextBox 13" id="13"/>
          <p:cNvSpPr txBox="true"/>
          <p:nvPr/>
        </p:nvSpPr>
        <p:spPr>
          <a:xfrm rot="0">
            <a:off x="2065713" y="6752298"/>
            <a:ext cx="8864012" cy="448632"/>
          </a:xfrm>
          <a:prstGeom prst="rect">
            <a:avLst/>
          </a:prstGeom>
        </p:spPr>
        <p:txBody>
          <a:bodyPr anchor="t" rtlCol="false" tIns="0" lIns="0" bIns="0" rIns="0">
            <a:spAutoFit/>
          </a:bodyPr>
          <a:lstStyle/>
          <a:p>
            <a:pPr algn="l" marL="0" indent="0" lvl="0">
              <a:lnSpc>
                <a:spcPts val="3202"/>
              </a:lnSpc>
              <a:spcBef>
                <a:spcPct val="0"/>
              </a:spcBef>
            </a:pPr>
            <a:r>
              <a:rPr lang="en-US" sz="3050" spc="-234">
                <a:solidFill>
                  <a:srgbClr val="FFFFFF"/>
                </a:solidFill>
                <a:latin typeface="Poppins"/>
                <a:ea typeface="Poppins"/>
                <a:cs typeface="Poppins"/>
                <a:sym typeface="Poppins"/>
              </a:rPr>
              <a:t>Alur Kerja Git: Dari Edit File Hingga GitHub</a:t>
            </a:r>
          </a:p>
        </p:txBody>
      </p:sp>
      <p:sp>
        <p:nvSpPr>
          <p:cNvPr name="TextBox 14" id="14"/>
          <p:cNvSpPr txBox="true"/>
          <p:nvPr/>
        </p:nvSpPr>
        <p:spPr>
          <a:xfrm rot="0">
            <a:off x="2065713" y="7724805"/>
            <a:ext cx="9587149" cy="1736085"/>
          </a:xfrm>
          <a:prstGeom prst="rect">
            <a:avLst/>
          </a:prstGeom>
        </p:spPr>
        <p:txBody>
          <a:bodyPr anchor="t" rtlCol="false" tIns="0" lIns="0" bIns="0" rIns="0">
            <a:spAutoFit/>
          </a:bodyPr>
          <a:lstStyle/>
          <a:p>
            <a:pPr algn="l" marL="0" indent="0" lvl="0">
              <a:lnSpc>
                <a:spcPts val="2729"/>
              </a:lnSpc>
              <a:spcBef>
                <a:spcPct val="0"/>
              </a:spcBef>
            </a:pPr>
            <a:r>
              <a:rPr lang="en-US" sz="1949">
                <a:solidFill>
                  <a:srgbClr val="FFFFFF"/>
                </a:solidFill>
                <a:latin typeface="Poppins"/>
                <a:ea typeface="Poppins"/>
                <a:cs typeface="Poppins"/>
                <a:sym typeface="Poppins"/>
              </a:rPr>
              <a:t>Staging Area adalah area sementara sebelum commit untuk memilih file yang akan disimpan.</a:t>
            </a:r>
          </a:p>
          <a:p>
            <a:pPr algn="l" marL="0" indent="0" lvl="0">
              <a:lnSpc>
                <a:spcPts val="2729"/>
              </a:lnSpc>
              <a:spcBef>
                <a:spcPct val="0"/>
              </a:spcBef>
            </a:pPr>
            <a:r>
              <a:rPr lang="en-US" sz="1949">
                <a:solidFill>
                  <a:srgbClr val="FFFFFF"/>
                </a:solidFill>
                <a:latin typeface="Poppins"/>
                <a:ea typeface="Poppins"/>
                <a:cs typeface="Poppins"/>
                <a:sym typeface="Poppins"/>
              </a:rPr>
              <a:t>Workflow Git:</a:t>
            </a:r>
          </a:p>
          <a:p>
            <a:pPr algn="l" marL="0" indent="0" lvl="0">
              <a:lnSpc>
                <a:spcPts val="2729"/>
              </a:lnSpc>
              <a:spcBef>
                <a:spcPct val="0"/>
              </a:spcBef>
            </a:pPr>
            <a:r>
              <a:rPr lang="en-US" sz="1949">
                <a:solidFill>
                  <a:srgbClr val="FFFFFF"/>
                </a:solidFill>
                <a:latin typeface="Poppins"/>
                <a:ea typeface="Poppins"/>
                <a:cs typeface="Poppins"/>
                <a:sym typeface="Poppins"/>
              </a:rPr>
              <a:t>Edit File → git add → git commit → git push → GitHub</a:t>
            </a:r>
          </a:p>
          <a:p>
            <a:pPr algn="l" marL="0" indent="0" lvl="0">
              <a:lnSpc>
                <a:spcPts val="2729"/>
              </a:lnSpc>
              <a:spcBef>
                <a:spcPct val="0"/>
              </a:spcBef>
            </a:pPr>
            <a:r>
              <a:rPr lang="en-US" sz="1949">
                <a:solidFill>
                  <a:srgbClr val="FFFFFF"/>
                </a:solidFill>
                <a:latin typeface="Poppins"/>
                <a:ea typeface="Poppins"/>
                <a:cs typeface="Poppins"/>
                <a:sym typeface="Poppins"/>
              </a:rPr>
              <a:t>Alur: Working Directory → Staging Area → Repository</a:t>
            </a:r>
          </a:p>
        </p:txBody>
      </p:sp>
      <p:sp>
        <p:nvSpPr>
          <p:cNvPr name="TextBox 15" id="15"/>
          <p:cNvSpPr txBox="true"/>
          <p:nvPr/>
        </p:nvSpPr>
        <p:spPr>
          <a:xfrm rot="0">
            <a:off x="12026472" y="6910758"/>
            <a:ext cx="5734634" cy="1056353"/>
          </a:xfrm>
          <a:prstGeom prst="rect">
            <a:avLst/>
          </a:prstGeom>
        </p:spPr>
        <p:txBody>
          <a:bodyPr anchor="t" rtlCol="false" tIns="0" lIns="0" bIns="0" rIns="0">
            <a:spAutoFit/>
          </a:bodyPr>
          <a:lstStyle/>
          <a:p>
            <a:pPr algn="l" marL="0" indent="0" lvl="0">
              <a:lnSpc>
                <a:spcPts val="2761"/>
              </a:lnSpc>
              <a:spcBef>
                <a:spcPct val="0"/>
              </a:spcBef>
            </a:pPr>
            <a:r>
              <a:rPr lang="en-US" sz="1972">
                <a:solidFill>
                  <a:srgbClr val="FFFFFF"/>
                </a:solidFill>
                <a:latin typeface="Poppins"/>
                <a:ea typeface="Poppins"/>
                <a:cs typeface="Poppins"/>
                <a:sym typeface="Poppins"/>
              </a:rPr>
              <a:t>Gunakan git add untuk memilih perubahan, git commit untuk menyimpan ke riwayat lokal, dan git push untuk mengirim ke GitHub.</a:t>
            </a:r>
          </a:p>
        </p:txBody>
      </p:sp>
      <p:sp>
        <p:nvSpPr>
          <p:cNvPr name="Freeform 16" id="16"/>
          <p:cNvSpPr/>
          <p:nvPr/>
        </p:nvSpPr>
        <p:spPr>
          <a:xfrm flipH="false" flipV="false" rot="0">
            <a:off x="8369729" y="528033"/>
            <a:ext cx="5954882" cy="5976615"/>
          </a:xfrm>
          <a:custGeom>
            <a:avLst/>
            <a:gdLst/>
            <a:ahLst/>
            <a:cxnLst/>
            <a:rect r="r" b="b" t="t" l="l"/>
            <a:pathLst>
              <a:path h="5976615" w="5954882">
                <a:moveTo>
                  <a:pt x="0" y="0"/>
                </a:moveTo>
                <a:lnTo>
                  <a:pt x="5954881" y="0"/>
                </a:lnTo>
                <a:lnTo>
                  <a:pt x="5954881" y="5976615"/>
                </a:lnTo>
                <a:lnTo>
                  <a:pt x="0" y="5976615"/>
                </a:lnTo>
                <a:lnTo>
                  <a:pt x="0" y="0"/>
                </a:lnTo>
                <a:close/>
              </a:path>
            </a:pathLst>
          </a:custGeom>
          <a:blipFill>
            <a:blip r:embed="rId2"/>
            <a:stretch>
              <a:fillRect l="0" t="0" r="0" b="0"/>
            </a:stretch>
          </a:blipFill>
        </p:spPr>
      </p:sp>
      <p:grpSp>
        <p:nvGrpSpPr>
          <p:cNvPr name="Group 17" id="17"/>
          <p:cNvGrpSpPr/>
          <p:nvPr/>
        </p:nvGrpSpPr>
        <p:grpSpPr>
          <a:xfrm rot="0">
            <a:off x="8699993" y="869164"/>
            <a:ext cx="5294353" cy="529435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9156933" y="1326104"/>
            <a:ext cx="4380473" cy="438047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66675" cap="sq">
              <a:solidFill>
                <a:srgbClr val="FFFFFF"/>
              </a:solidFill>
              <a:prstDash val="solid"/>
              <a:miter/>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85468" y="1759867"/>
            <a:ext cx="14717065" cy="3383633"/>
            <a:chOff x="0" y="0"/>
            <a:chExt cx="3876099" cy="891163"/>
          </a:xfrm>
        </p:grpSpPr>
        <p:sp>
          <p:nvSpPr>
            <p:cNvPr name="Freeform 3" id="3"/>
            <p:cNvSpPr/>
            <p:nvPr/>
          </p:nvSpPr>
          <p:spPr>
            <a:xfrm flipH="false" flipV="false" rot="0">
              <a:off x="0" y="0"/>
              <a:ext cx="3876099" cy="891163"/>
            </a:xfrm>
            <a:custGeom>
              <a:avLst/>
              <a:gdLst/>
              <a:ahLst/>
              <a:cxnLst/>
              <a:rect r="r" b="b" t="t" l="l"/>
              <a:pathLst>
                <a:path h="891163" w="3876099">
                  <a:moveTo>
                    <a:pt x="23146" y="0"/>
                  </a:moveTo>
                  <a:lnTo>
                    <a:pt x="3852953" y="0"/>
                  </a:lnTo>
                  <a:cubicBezTo>
                    <a:pt x="3859092" y="0"/>
                    <a:pt x="3864979" y="2439"/>
                    <a:pt x="3869320" y="6779"/>
                  </a:cubicBezTo>
                  <a:cubicBezTo>
                    <a:pt x="3873661" y="11120"/>
                    <a:pt x="3876099" y="17007"/>
                    <a:pt x="3876099" y="23146"/>
                  </a:cubicBezTo>
                  <a:lnTo>
                    <a:pt x="3876099" y="868016"/>
                  </a:lnTo>
                  <a:cubicBezTo>
                    <a:pt x="3876099" y="874155"/>
                    <a:pt x="3873661" y="880043"/>
                    <a:pt x="3869320" y="884383"/>
                  </a:cubicBezTo>
                  <a:cubicBezTo>
                    <a:pt x="3864979" y="888724"/>
                    <a:pt x="3859092" y="891163"/>
                    <a:pt x="3852953" y="891163"/>
                  </a:cubicBezTo>
                  <a:lnTo>
                    <a:pt x="23146" y="891163"/>
                  </a:lnTo>
                  <a:cubicBezTo>
                    <a:pt x="17007" y="891163"/>
                    <a:pt x="11120" y="888724"/>
                    <a:pt x="6779" y="884383"/>
                  </a:cubicBezTo>
                  <a:cubicBezTo>
                    <a:pt x="2439" y="880043"/>
                    <a:pt x="0" y="874155"/>
                    <a:pt x="0" y="868016"/>
                  </a:cubicBezTo>
                  <a:lnTo>
                    <a:pt x="0" y="23146"/>
                  </a:lnTo>
                  <a:cubicBezTo>
                    <a:pt x="0" y="17007"/>
                    <a:pt x="2439" y="11120"/>
                    <a:pt x="6779" y="6779"/>
                  </a:cubicBezTo>
                  <a:cubicBezTo>
                    <a:pt x="11120" y="2439"/>
                    <a:pt x="17007" y="0"/>
                    <a:pt x="23146" y="0"/>
                  </a:cubicBezTo>
                  <a:close/>
                </a:path>
              </a:pathLst>
            </a:custGeom>
            <a:solidFill>
              <a:srgbClr val="FFFFFF"/>
            </a:solidFill>
          </p:spPr>
        </p:sp>
        <p:sp>
          <p:nvSpPr>
            <p:cNvPr name="TextBox 4" id="4"/>
            <p:cNvSpPr txBox="true"/>
            <p:nvPr/>
          </p:nvSpPr>
          <p:spPr>
            <a:xfrm>
              <a:off x="0" y="-38100"/>
              <a:ext cx="3876099" cy="929263"/>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861145" y="2224815"/>
            <a:ext cx="14565709" cy="1500442"/>
          </a:xfrm>
          <a:prstGeom prst="rect">
            <a:avLst/>
          </a:prstGeom>
        </p:spPr>
        <p:txBody>
          <a:bodyPr anchor="t" rtlCol="false" tIns="0" lIns="0" bIns="0" rIns="0">
            <a:spAutoFit/>
          </a:bodyPr>
          <a:lstStyle/>
          <a:p>
            <a:pPr algn="ctr" marL="0" indent="0" lvl="0">
              <a:lnSpc>
                <a:spcPts val="10727"/>
              </a:lnSpc>
            </a:pPr>
            <a:r>
              <a:rPr lang="en-US" b="true" sz="10216" spc="-735">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COMMAND DASAR GIT</a:t>
            </a:r>
          </a:p>
        </p:txBody>
      </p:sp>
      <p:sp>
        <p:nvSpPr>
          <p:cNvPr name="TextBox 6" id="6"/>
          <p:cNvSpPr txBox="true"/>
          <p:nvPr/>
        </p:nvSpPr>
        <p:spPr>
          <a:xfrm rot="0">
            <a:off x="2654177" y="3893753"/>
            <a:ext cx="12979645" cy="458117"/>
          </a:xfrm>
          <a:prstGeom prst="rect">
            <a:avLst/>
          </a:prstGeom>
        </p:spPr>
        <p:txBody>
          <a:bodyPr anchor="t" rtlCol="false" tIns="0" lIns="0" bIns="0" rIns="0">
            <a:spAutoFit/>
          </a:bodyPr>
          <a:lstStyle/>
          <a:p>
            <a:pPr algn="ctr" marL="0" indent="0" lvl="0">
              <a:lnSpc>
                <a:spcPts val="3200"/>
              </a:lnSpc>
              <a:spcBef>
                <a:spcPct val="0"/>
              </a:spcBef>
            </a:pPr>
            <a:r>
              <a:rPr lang="en-US" sz="3048" spc="-234">
                <a:gradFill>
                  <a:gsLst>
                    <a:gs pos="0">
                      <a:srgbClr val="109590">
                        <a:alpha val="100000"/>
                      </a:srgbClr>
                    </a:gs>
                    <a:gs pos="100000">
                      <a:srgbClr val="0B3450">
                        <a:alpha val="100000"/>
                      </a:srgbClr>
                    </a:gs>
                  </a:gsLst>
                  <a:lin ang="2700000"/>
                </a:gradFill>
                <a:latin typeface="Poppins"/>
                <a:ea typeface="Poppins"/>
                <a:cs typeface="Poppins"/>
                <a:sym typeface="Poppins"/>
              </a:rPr>
              <a:t>Perintah Dasar untuk Mengelola Repository dan Menyimpan Perubahan</a:t>
            </a:r>
          </a:p>
        </p:txBody>
      </p:sp>
      <p:sp>
        <p:nvSpPr>
          <p:cNvPr name="TextBox 7" id="7"/>
          <p:cNvSpPr txBox="true"/>
          <p:nvPr/>
        </p:nvSpPr>
        <p:spPr>
          <a:xfrm rot="0">
            <a:off x="584254" y="5898136"/>
            <a:ext cx="9264534" cy="1604500"/>
          </a:xfrm>
          <a:prstGeom prst="rect">
            <a:avLst/>
          </a:prstGeom>
        </p:spPr>
        <p:txBody>
          <a:bodyPr anchor="t" rtlCol="false" tIns="0" lIns="0" bIns="0" rIns="0">
            <a:spAutoFit/>
          </a:bodyPr>
          <a:lstStyle/>
          <a:p>
            <a:pPr algn="l" marL="0" indent="0" lvl="0">
              <a:lnSpc>
                <a:spcPts val="2590"/>
              </a:lnSpc>
              <a:spcBef>
                <a:spcPct val="0"/>
              </a:spcBef>
            </a:pPr>
            <a:r>
              <a:rPr lang="en-US" sz="1850">
                <a:solidFill>
                  <a:srgbClr val="FFFFFF"/>
                </a:solidFill>
                <a:latin typeface="Poppins"/>
                <a:ea typeface="Poppins"/>
                <a:cs typeface="Poppins"/>
                <a:sym typeface="Poppins"/>
              </a:rPr>
              <a:t>git status</a:t>
            </a:r>
          </a:p>
          <a:p>
            <a:pPr algn="l" marL="0" indent="0" lvl="0">
              <a:lnSpc>
                <a:spcPts val="2590"/>
              </a:lnSpc>
              <a:spcBef>
                <a:spcPct val="0"/>
              </a:spcBef>
            </a:pPr>
            <a:r>
              <a:rPr lang="en-US" sz="1850">
                <a:solidFill>
                  <a:srgbClr val="FFFFFF"/>
                </a:solidFill>
                <a:latin typeface="Poppins"/>
                <a:ea typeface="Poppins"/>
                <a:cs typeface="Poppins"/>
                <a:sym typeface="Poppins"/>
              </a:rPr>
              <a:t>Melihat kondisi repository saat ini — file mana yang berubah, sudah di-stage, atau belum di-track.</a:t>
            </a:r>
          </a:p>
          <a:p>
            <a:pPr algn="l" marL="0" indent="0" lvl="0">
              <a:lnSpc>
                <a:spcPts val="2590"/>
              </a:lnSpc>
              <a:spcBef>
                <a:spcPct val="0"/>
              </a:spcBef>
            </a:pPr>
            <a:r>
              <a:rPr lang="en-US" sz="1850">
                <a:solidFill>
                  <a:srgbClr val="FFFFFF"/>
                </a:solidFill>
                <a:latin typeface="Poppins"/>
                <a:ea typeface="Poppins"/>
                <a:cs typeface="Poppins"/>
                <a:sym typeface="Poppins"/>
              </a:rPr>
              <a:t>git add .</a:t>
            </a:r>
          </a:p>
          <a:p>
            <a:pPr algn="l" marL="0" indent="0" lvl="0">
              <a:lnSpc>
                <a:spcPts val="2590"/>
              </a:lnSpc>
              <a:spcBef>
                <a:spcPct val="0"/>
              </a:spcBef>
            </a:pPr>
            <a:r>
              <a:rPr lang="en-US" sz="1850">
                <a:solidFill>
                  <a:srgbClr val="FFFFFF"/>
                </a:solidFill>
                <a:latin typeface="Poppins"/>
                <a:ea typeface="Poppins"/>
                <a:cs typeface="Poppins"/>
                <a:sym typeface="Poppins"/>
              </a:rPr>
              <a:t>Memasukkan semua perubahan ke Staging Area, siap untuk di-commit.</a:t>
            </a:r>
          </a:p>
        </p:txBody>
      </p:sp>
      <p:sp>
        <p:nvSpPr>
          <p:cNvPr name="TextBox 8" id="8"/>
          <p:cNvSpPr txBox="true"/>
          <p:nvPr/>
        </p:nvSpPr>
        <p:spPr>
          <a:xfrm rot="0">
            <a:off x="584254" y="7869823"/>
            <a:ext cx="9264534" cy="1604500"/>
          </a:xfrm>
          <a:prstGeom prst="rect">
            <a:avLst/>
          </a:prstGeom>
        </p:spPr>
        <p:txBody>
          <a:bodyPr anchor="t" rtlCol="false" tIns="0" lIns="0" bIns="0" rIns="0">
            <a:spAutoFit/>
          </a:bodyPr>
          <a:lstStyle/>
          <a:p>
            <a:pPr algn="l" marL="0" indent="0" lvl="0">
              <a:lnSpc>
                <a:spcPts val="2590"/>
              </a:lnSpc>
              <a:spcBef>
                <a:spcPct val="0"/>
              </a:spcBef>
            </a:pPr>
            <a:r>
              <a:rPr lang="en-US" sz="1850">
                <a:solidFill>
                  <a:srgbClr val="FFFFFF"/>
                </a:solidFill>
                <a:latin typeface="Poppins"/>
                <a:ea typeface="Poppins"/>
                <a:cs typeface="Poppins"/>
                <a:sym typeface="Poppins"/>
              </a:rPr>
              <a:t>git commit -m "Pesan Commit"</a:t>
            </a:r>
          </a:p>
          <a:p>
            <a:pPr algn="l" marL="0" indent="0" lvl="0">
              <a:lnSpc>
                <a:spcPts val="2590"/>
              </a:lnSpc>
              <a:spcBef>
                <a:spcPct val="0"/>
              </a:spcBef>
            </a:pPr>
            <a:r>
              <a:rPr lang="en-US" sz="1850">
                <a:solidFill>
                  <a:srgbClr val="FFFFFF"/>
                </a:solidFill>
                <a:latin typeface="Poppins"/>
                <a:ea typeface="Poppins"/>
                <a:cs typeface="Poppins"/>
                <a:sym typeface="Poppins"/>
              </a:rPr>
              <a:t>Menyimpan perubahan ke riwayat Git dengan pesan yang menjelaskan isi perubahan.</a:t>
            </a:r>
          </a:p>
          <a:p>
            <a:pPr algn="l" marL="0" indent="0" lvl="0">
              <a:lnSpc>
                <a:spcPts val="2590"/>
              </a:lnSpc>
              <a:spcBef>
                <a:spcPct val="0"/>
              </a:spcBef>
            </a:pPr>
            <a:r>
              <a:rPr lang="en-US" sz="1850">
                <a:solidFill>
                  <a:srgbClr val="FFFFFF"/>
                </a:solidFill>
                <a:latin typeface="Poppins"/>
                <a:ea typeface="Poppins"/>
                <a:cs typeface="Poppins"/>
                <a:sym typeface="Poppins"/>
              </a:rPr>
              <a:t>git push</a:t>
            </a:r>
          </a:p>
          <a:p>
            <a:pPr algn="l" marL="0" indent="0" lvl="0">
              <a:lnSpc>
                <a:spcPts val="2590"/>
              </a:lnSpc>
              <a:spcBef>
                <a:spcPct val="0"/>
              </a:spcBef>
            </a:pPr>
            <a:r>
              <a:rPr lang="en-US" sz="1850">
                <a:solidFill>
                  <a:srgbClr val="FFFFFF"/>
                </a:solidFill>
                <a:latin typeface="Poppins"/>
                <a:ea typeface="Poppins"/>
                <a:cs typeface="Poppins"/>
                <a:sym typeface="Poppins"/>
              </a:rPr>
              <a:t>Mengirim commit dari repository lokal ke GitHub agar tersimpan secara online.</a:t>
            </a:r>
          </a:p>
        </p:txBody>
      </p:sp>
      <p:sp>
        <p:nvSpPr>
          <p:cNvPr name="Freeform 9" id="9"/>
          <p:cNvSpPr/>
          <p:nvPr/>
        </p:nvSpPr>
        <p:spPr>
          <a:xfrm flipH="false" flipV="false" rot="0">
            <a:off x="9399636" y="4665612"/>
            <a:ext cx="8098517" cy="8128073"/>
          </a:xfrm>
          <a:custGeom>
            <a:avLst/>
            <a:gdLst/>
            <a:ahLst/>
            <a:cxnLst/>
            <a:rect r="r" b="b" t="t" l="l"/>
            <a:pathLst>
              <a:path h="8128073" w="8098517">
                <a:moveTo>
                  <a:pt x="0" y="0"/>
                </a:moveTo>
                <a:lnTo>
                  <a:pt x="8098517" y="0"/>
                </a:lnTo>
                <a:lnTo>
                  <a:pt x="8098517" y="8128074"/>
                </a:lnTo>
                <a:lnTo>
                  <a:pt x="0" y="8128074"/>
                </a:lnTo>
                <a:lnTo>
                  <a:pt x="0" y="0"/>
                </a:lnTo>
                <a:close/>
              </a:path>
            </a:pathLst>
          </a:custGeom>
          <a:blipFill>
            <a:blip r:embed="rId2"/>
            <a:stretch>
              <a:fillRect l="0" t="0" r="0" b="0"/>
            </a:stretch>
          </a:blipFill>
        </p:spPr>
      </p:sp>
      <p:grpSp>
        <p:nvGrpSpPr>
          <p:cNvPr name="Group 10" id="10"/>
          <p:cNvGrpSpPr/>
          <p:nvPr/>
        </p:nvGrpSpPr>
        <p:grpSpPr>
          <a:xfrm rot="0">
            <a:off x="9848789" y="5129543"/>
            <a:ext cx="7200211" cy="72002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0470218" y="5750972"/>
            <a:ext cx="5957353" cy="595735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85468" y="1759867"/>
            <a:ext cx="14717065" cy="3383633"/>
            <a:chOff x="0" y="0"/>
            <a:chExt cx="3876099" cy="891163"/>
          </a:xfrm>
        </p:grpSpPr>
        <p:sp>
          <p:nvSpPr>
            <p:cNvPr name="Freeform 3" id="3"/>
            <p:cNvSpPr/>
            <p:nvPr/>
          </p:nvSpPr>
          <p:spPr>
            <a:xfrm flipH="false" flipV="false" rot="0">
              <a:off x="0" y="0"/>
              <a:ext cx="3876099" cy="891163"/>
            </a:xfrm>
            <a:custGeom>
              <a:avLst/>
              <a:gdLst/>
              <a:ahLst/>
              <a:cxnLst/>
              <a:rect r="r" b="b" t="t" l="l"/>
              <a:pathLst>
                <a:path h="891163" w="3876099">
                  <a:moveTo>
                    <a:pt x="23146" y="0"/>
                  </a:moveTo>
                  <a:lnTo>
                    <a:pt x="3852953" y="0"/>
                  </a:lnTo>
                  <a:cubicBezTo>
                    <a:pt x="3859092" y="0"/>
                    <a:pt x="3864979" y="2439"/>
                    <a:pt x="3869320" y="6779"/>
                  </a:cubicBezTo>
                  <a:cubicBezTo>
                    <a:pt x="3873661" y="11120"/>
                    <a:pt x="3876099" y="17007"/>
                    <a:pt x="3876099" y="23146"/>
                  </a:cubicBezTo>
                  <a:lnTo>
                    <a:pt x="3876099" y="868016"/>
                  </a:lnTo>
                  <a:cubicBezTo>
                    <a:pt x="3876099" y="874155"/>
                    <a:pt x="3873661" y="880043"/>
                    <a:pt x="3869320" y="884383"/>
                  </a:cubicBezTo>
                  <a:cubicBezTo>
                    <a:pt x="3864979" y="888724"/>
                    <a:pt x="3859092" y="891163"/>
                    <a:pt x="3852953" y="891163"/>
                  </a:cubicBezTo>
                  <a:lnTo>
                    <a:pt x="23146" y="891163"/>
                  </a:lnTo>
                  <a:cubicBezTo>
                    <a:pt x="17007" y="891163"/>
                    <a:pt x="11120" y="888724"/>
                    <a:pt x="6779" y="884383"/>
                  </a:cubicBezTo>
                  <a:cubicBezTo>
                    <a:pt x="2439" y="880043"/>
                    <a:pt x="0" y="874155"/>
                    <a:pt x="0" y="868016"/>
                  </a:cubicBezTo>
                  <a:lnTo>
                    <a:pt x="0" y="23146"/>
                  </a:lnTo>
                  <a:cubicBezTo>
                    <a:pt x="0" y="17007"/>
                    <a:pt x="2439" y="11120"/>
                    <a:pt x="6779" y="6779"/>
                  </a:cubicBezTo>
                  <a:cubicBezTo>
                    <a:pt x="11120" y="2439"/>
                    <a:pt x="17007" y="0"/>
                    <a:pt x="23146" y="0"/>
                  </a:cubicBezTo>
                  <a:close/>
                </a:path>
              </a:pathLst>
            </a:custGeom>
            <a:solidFill>
              <a:srgbClr val="FFFFFF"/>
            </a:solidFill>
          </p:spPr>
        </p:sp>
        <p:sp>
          <p:nvSpPr>
            <p:cNvPr name="TextBox 4" id="4"/>
            <p:cNvSpPr txBox="true"/>
            <p:nvPr/>
          </p:nvSpPr>
          <p:spPr>
            <a:xfrm>
              <a:off x="0" y="-38100"/>
              <a:ext cx="3876099" cy="929263"/>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861145" y="2224815"/>
            <a:ext cx="14565709" cy="1473624"/>
          </a:xfrm>
          <a:prstGeom prst="rect">
            <a:avLst/>
          </a:prstGeom>
        </p:spPr>
        <p:txBody>
          <a:bodyPr anchor="t" rtlCol="false" tIns="0" lIns="0" bIns="0" rIns="0">
            <a:spAutoFit/>
          </a:bodyPr>
          <a:lstStyle/>
          <a:p>
            <a:pPr algn="ctr" marL="0" indent="0" lvl="0">
              <a:lnSpc>
                <a:spcPts val="10558"/>
              </a:lnSpc>
            </a:pPr>
            <a:r>
              <a:rPr lang="en-US" b="true" sz="10055" spc="-723">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COMMAND DASAR GIT (2)</a:t>
            </a:r>
          </a:p>
        </p:txBody>
      </p:sp>
      <p:sp>
        <p:nvSpPr>
          <p:cNvPr name="TextBox 6" id="6"/>
          <p:cNvSpPr txBox="true"/>
          <p:nvPr/>
        </p:nvSpPr>
        <p:spPr>
          <a:xfrm rot="0">
            <a:off x="2654177" y="3893753"/>
            <a:ext cx="12979645" cy="458117"/>
          </a:xfrm>
          <a:prstGeom prst="rect">
            <a:avLst/>
          </a:prstGeom>
        </p:spPr>
        <p:txBody>
          <a:bodyPr anchor="t" rtlCol="false" tIns="0" lIns="0" bIns="0" rIns="0">
            <a:spAutoFit/>
          </a:bodyPr>
          <a:lstStyle/>
          <a:p>
            <a:pPr algn="ctr" marL="0" indent="0" lvl="0">
              <a:lnSpc>
                <a:spcPts val="3200"/>
              </a:lnSpc>
              <a:spcBef>
                <a:spcPct val="0"/>
              </a:spcBef>
            </a:pPr>
            <a:r>
              <a:rPr lang="en-US" sz="3048" spc="-234">
                <a:gradFill>
                  <a:gsLst>
                    <a:gs pos="0">
                      <a:srgbClr val="109590">
                        <a:alpha val="100000"/>
                      </a:srgbClr>
                    </a:gs>
                    <a:gs pos="100000">
                      <a:srgbClr val="0B3450">
                        <a:alpha val="100000"/>
                      </a:srgbClr>
                    </a:gs>
                  </a:gsLst>
                  <a:lin ang="2700000"/>
                </a:gradFill>
                <a:latin typeface="Poppins"/>
                <a:ea typeface="Poppins"/>
                <a:cs typeface="Poppins"/>
                <a:sym typeface="Poppins"/>
              </a:rPr>
              <a:t>Perintah Git untuk Sinkronisasi, Riwayat, dan Manajemen Branch</a:t>
            </a:r>
          </a:p>
        </p:txBody>
      </p:sp>
      <p:sp>
        <p:nvSpPr>
          <p:cNvPr name="TextBox 7" id="7"/>
          <p:cNvSpPr txBox="true"/>
          <p:nvPr/>
        </p:nvSpPr>
        <p:spPr>
          <a:xfrm rot="0">
            <a:off x="2074436" y="5693822"/>
            <a:ext cx="11486524" cy="2064836"/>
          </a:xfrm>
          <a:prstGeom prst="rect">
            <a:avLst/>
          </a:prstGeom>
        </p:spPr>
        <p:txBody>
          <a:bodyPr anchor="t" rtlCol="false" tIns="0" lIns="0" bIns="0" rIns="0">
            <a:spAutoFit/>
          </a:bodyPr>
          <a:lstStyle/>
          <a:p>
            <a:pPr algn="l" marL="0" indent="0" lvl="0">
              <a:lnSpc>
                <a:spcPts val="2740"/>
              </a:lnSpc>
              <a:spcBef>
                <a:spcPct val="0"/>
              </a:spcBef>
            </a:pPr>
            <a:r>
              <a:rPr lang="en-US" sz="1957">
                <a:solidFill>
                  <a:srgbClr val="FFFFFF"/>
                </a:solidFill>
                <a:latin typeface="Poppins"/>
                <a:ea typeface="Poppins"/>
                <a:cs typeface="Poppins"/>
                <a:sym typeface="Poppins"/>
              </a:rPr>
              <a:t>git pull :</a:t>
            </a:r>
          </a:p>
          <a:p>
            <a:pPr algn="l" marL="0" indent="0" lvl="0">
              <a:lnSpc>
                <a:spcPts val="2740"/>
              </a:lnSpc>
              <a:spcBef>
                <a:spcPct val="0"/>
              </a:spcBef>
            </a:pPr>
            <a:r>
              <a:rPr lang="en-US" sz="1957">
                <a:solidFill>
                  <a:srgbClr val="FFFFFF"/>
                </a:solidFill>
                <a:latin typeface="Poppins"/>
                <a:ea typeface="Poppins"/>
                <a:cs typeface="Poppins"/>
                <a:sym typeface="Poppins"/>
              </a:rPr>
              <a:t>Mengambil perubahan terbaru dari GitHub ke lokal</a:t>
            </a:r>
          </a:p>
          <a:p>
            <a:pPr algn="l" marL="0" indent="0" lvl="0">
              <a:lnSpc>
                <a:spcPts val="2740"/>
              </a:lnSpc>
              <a:spcBef>
                <a:spcPct val="0"/>
              </a:spcBef>
            </a:pPr>
            <a:r>
              <a:rPr lang="en-US" sz="1957">
                <a:solidFill>
                  <a:srgbClr val="FFFFFF"/>
                </a:solidFill>
                <a:latin typeface="Poppins"/>
                <a:ea typeface="Poppins"/>
                <a:cs typeface="Poppins"/>
                <a:sym typeface="Poppins"/>
              </a:rPr>
              <a:t>git log :</a:t>
            </a:r>
          </a:p>
          <a:p>
            <a:pPr algn="l" marL="0" indent="0" lvl="0">
              <a:lnSpc>
                <a:spcPts val="2740"/>
              </a:lnSpc>
              <a:spcBef>
                <a:spcPct val="0"/>
              </a:spcBef>
            </a:pPr>
            <a:r>
              <a:rPr lang="en-US" sz="1957">
                <a:solidFill>
                  <a:srgbClr val="FFFFFF"/>
                </a:solidFill>
                <a:latin typeface="Poppins"/>
                <a:ea typeface="Poppins"/>
                <a:cs typeface="Poppins"/>
                <a:sym typeface="Poppins"/>
              </a:rPr>
              <a:t>Melihat riwayat commit yang pernah dilakukan</a:t>
            </a:r>
          </a:p>
          <a:p>
            <a:pPr algn="l" marL="0" indent="0" lvl="0">
              <a:lnSpc>
                <a:spcPts val="2740"/>
              </a:lnSpc>
              <a:spcBef>
                <a:spcPct val="0"/>
              </a:spcBef>
            </a:pPr>
            <a:r>
              <a:rPr lang="en-US" sz="1957">
                <a:solidFill>
                  <a:srgbClr val="FFFFFF"/>
                </a:solidFill>
                <a:latin typeface="Poppins"/>
                <a:ea typeface="Poppins"/>
                <a:cs typeface="Poppins"/>
                <a:sym typeface="Poppins"/>
              </a:rPr>
              <a:t>git branch :</a:t>
            </a:r>
          </a:p>
          <a:p>
            <a:pPr algn="l" marL="0" indent="0" lvl="0">
              <a:lnSpc>
                <a:spcPts val="2740"/>
              </a:lnSpc>
              <a:spcBef>
                <a:spcPct val="0"/>
              </a:spcBef>
            </a:pPr>
            <a:r>
              <a:rPr lang="en-US" sz="1957">
                <a:solidFill>
                  <a:srgbClr val="FFFFFF"/>
                </a:solidFill>
                <a:latin typeface="Poppins"/>
                <a:ea typeface="Poppins"/>
                <a:cs typeface="Poppins"/>
                <a:sym typeface="Poppins"/>
              </a:rPr>
              <a:t>Melihat daftar branch yang ada di repository</a:t>
            </a:r>
          </a:p>
        </p:txBody>
      </p:sp>
      <p:sp>
        <p:nvSpPr>
          <p:cNvPr name="TextBox 8" id="8"/>
          <p:cNvSpPr txBox="true"/>
          <p:nvPr/>
        </p:nvSpPr>
        <p:spPr>
          <a:xfrm rot="0">
            <a:off x="2016489" y="8311109"/>
            <a:ext cx="11432405" cy="1379270"/>
          </a:xfrm>
          <a:prstGeom prst="rect">
            <a:avLst/>
          </a:prstGeom>
        </p:spPr>
        <p:txBody>
          <a:bodyPr anchor="t" rtlCol="false" tIns="0" lIns="0" bIns="0" rIns="0">
            <a:spAutoFit/>
          </a:bodyPr>
          <a:lstStyle/>
          <a:p>
            <a:pPr algn="l" marL="0" indent="0" lvl="0">
              <a:lnSpc>
                <a:spcPts val="2727"/>
              </a:lnSpc>
              <a:spcBef>
                <a:spcPct val="0"/>
              </a:spcBef>
            </a:pPr>
            <a:r>
              <a:rPr lang="en-US" sz="1948">
                <a:solidFill>
                  <a:srgbClr val="FFFFFF"/>
                </a:solidFill>
                <a:latin typeface="Poppins"/>
                <a:ea typeface="Poppins"/>
                <a:cs typeface="Poppins"/>
                <a:sym typeface="Poppins"/>
              </a:rPr>
              <a:t>git checkout -b feature-login :</a:t>
            </a:r>
          </a:p>
          <a:p>
            <a:pPr algn="l" marL="0" indent="0" lvl="0">
              <a:lnSpc>
                <a:spcPts val="2727"/>
              </a:lnSpc>
              <a:spcBef>
                <a:spcPct val="0"/>
              </a:spcBef>
            </a:pPr>
            <a:r>
              <a:rPr lang="en-US" sz="1948">
                <a:solidFill>
                  <a:srgbClr val="FFFFFF"/>
                </a:solidFill>
                <a:latin typeface="Poppins"/>
                <a:ea typeface="Poppins"/>
                <a:cs typeface="Poppins"/>
                <a:sym typeface="Poppins"/>
              </a:rPr>
              <a:t>Membuat branch baru sekaligus berpindah ke branch tersebut</a:t>
            </a:r>
          </a:p>
          <a:p>
            <a:pPr algn="l" marL="0" indent="0" lvl="0">
              <a:lnSpc>
                <a:spcPts val="2727"/>
              </a:lnSpc>
              <a:spcBef>
                <a:spcPct val="0"/>
              </a:spcBef>
            </a:pPr>
            <a:r>
              <a:rPr lang="en-US" sz="1948">
                <a:solidFill>
                  <a:srgbClr val="FFFFFF"/>
                </a:solidFill>
                <a:latin typeface="Poppins"/>
                <a:ea typeface="Poppins"/>
                <a:cs typeface="Poppins"/>
                <a:sym typeface="Poppins"/>
              </a:rPr>
              <a:t>git checkout main :</a:t>
            </a:r>
          </a:p>
          <a:p>
            <a:pPr algn="l" marL="0" indent="0" lvl="0">
              <a:lnSpc>
                <a:spcPts val="2727"/>
              </a:lnSpc>
              <a:spcBef>
                <a:spcPct val="0"/>
              </a:spcBef>
            </a:pPr>
            <a:r>
              <a:rPr lang="en-US" sz="1948">
                <a:solidFill>
                  <a:srgbClr val="FFFFFF"/>
                </a:solidFill>
                <a:latin typeface="Poppins"/>
                <a:ea typeface="Poppins"/>
                <a:cs typeface="Poppins"/>
                <a:sym typeface="Poppins"/>
              </a:rPr>
              <a:t>Berpindah ke branch lain (contoh: kembali ke branch main)</a:t>
            </a:r>
          </a:p>
        </p:txBody>
      </p:sp>
      <p:sp>
        <p:nvSpPr>
          <p:cNvPr name="Freeform 9" id="9"/>
          <p:cNvSpPr/>
          <p:nvPr/>
        </p:nvSpPr>
        <p:spPr>
          <a:xfrm flipH="false" flipV="false" rot="0">
            <a:off x="9399636" y="4665612"/>
            <a:ext cx="8098517" cy="8128073"/>
          </a:xfrm>
          <a:custGeom>
            <a:avLst/>
            <a:gdLst/>
            <a:ahLst/>
            <a:cxnLst/>
            <a:rect r="r" b="b" t="t" l="l"/>
            <a:pathLst>
              <a:path h="8128073" w="8098517">
                <a:moveTo>
                  <a:pt x="0" y="0"/>
                </a:moveTo>
                <a:lnTo>
                  <a:pt x="8098517" y="0"/>
                </a:lnTo>
                <a:lnTo>
                  <a:pt x="8098517" y="8128074"/>
                </a:lnTo>
                <a:lnTo>
                  <a:pt x="0" y="8128074"/>
                </a:lnTo>
                <a:lnTo>
                  <a:pt x="0" y="0"/>
                </a:lnTo>
                <a:close/>
              </a:path>
            </a:pathLst>
          </a:custGeom>
          <a:blipFill>
            <a:blip r:embed="rId2"/>
            <a:stretch>
              <a:fillRect l="0" t="0" r="0" b="0"/>
            </a:stretch>
          </a:blipFill>
        </p:spPr>
      </p:sp>
      <p:grpSp>
        <p:nvGrpSpPr>
          <p:cNvPr name="Group 10" id="10"/>
          <p:cNvGrpSpPr/>
          <p:nvPr/>
        </p:nvGrpSpPr>
        <p:grpSpPr>
          <a:xfrm rot="0">
            <a:off x="9848789" y="5129543"/>
            <a:ext cx="7200211" cy="720021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0470218" y="5750972"/>
            <a:ext cx="5957353" cy="595735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27433" y="6961615"/>
            <a:ext cx="17154636" cy="4233429"/>
            <a:chOff x="0" y="0"/>
            <a:chExt cx="4518094" cy="1114977"/>
          </a:xfrm>
        </p:grpSpPr>
        <p:sp>
          <p:nvSpPr>
            <p:cNvPr name="Freeform 3" id="3"/>
            <p:cNvSpPr/>
            <p:nvPr/>
          </p:nvSpPr>
          <p:spPr>
            <a:xfrm flipH="false" flipV="false" rot="0">
              <a:off x="0" y="0"/>
              <a:ext cx="4518094" cy="1114977"/>
            </a:xfrm>
            <a:custGeom>
              <a:avLst/>
              <a:gdLst/>
              <a:ahLst/>
              <a:cxnLst/>
              <a:rect r="r" b="b" t="t" l="l"/>
              <a:pathLst>
                <a:path h="1114977" w="4518094">
                  <a:moveTo>
                    <a:pt x="19857" y="0"/>
                  </a:moveTo>
                  <a:lnTo>
                    <a:pt x="4498236" y="0"/>
                  </a:lnTo>
                  <a:cubicBezTo>
                    <a:pt x="4509203" y="0"/>
                    <a:pt x="4518094" y="8890"/>
                    <a:pt x="4518094" y="19857"/>
                  </a:cubicBezTo>
                  <a:lnTo>
                    <a:pt x="4518094" y="1095120"/>
                  </a:lnTo>
                  <a:cubicBezTo>
                    <a:pt x="4518094" y="1106087"/>
                    <a:pt x="4509203" y="1114977"/>
                    <a:pt x="4498236" y="1114977"/>
                  </a:cubicBezTo>
                  <a:lnTo>
                    <a:pt x="19857" y="1114977"/>
                  </a:lnTo>
                  <a:cubicBezTo>
                    <a:pt x="8890" y="1114977"/>
                    <a:pt x="0" y="1106087"/>
                    <a:pt x="0" y="1095120"/>
                  </a:cubicBezTo>
                  <a:lnTo>
                    <a:pt x="0" y="19857"/>
                  </a:lnTo>
                  <a:cubicBezTo>
                    <a:pt x="0" y="8890"/>
                    <a:pt x="8890" y="0"/>
                    <a:pt x="19857" y="0"/>
                  </a:cubicBezTo>
                  <a:close/>
                </a:path>
              </a:pathLst>
            </a:custGeom>
            <a:solidFill>
              <a:srgbClr val="FFFFFF"/>
            </a:solidFill>
          </p:spPr>
        </p:sp>
        <p:sp>
          <p:nvSpPr>
            <p:cNvPr name="TextBox 4" id="4"/>
            <p:cNvSpPr txBox="true"/>
            <p:nvPr/>
          </p:nvSpPr>
          <p:spPr>
            <a:xfrm>
              <a:off x="0" y="-38100"/>
              <a:ext cx="4518094" cy="1153077"/>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9212718" y="1441385"/>
            <a:ext cx="7421588" cy="3520105"/>
          </a:xfrm>
          <a:prstGeom prst="rect">
            <a:avLst/>
          </a:prstGeom>
        </p:spPr>
        <p:txBody>
          <a:bodyPr anchor="t" rtlCol="false" tIns="0" lIns="0" bIns="0" rIns="0">
            <a:spAutoFit/>
          </a:bodyPr>
          <a:lstStyle/>
          <a:p>
            <a:pPr algn="l" marL="0" indent="0" lvl="0">
              <a:lnSpc>
                <a:spcPts val="8941"/>
              </a:lnSpc>
            </a:pPr>
            <a:r>
              <a:rPr lang="en-US" b="true" sz="8515" spc="-613">
                <a:solidFill>
                  <a:srgbClr val="FFFFFF"/>
                </a:solidFill>
                <a:latin typeface="Poppins Bold"/>
                <a:ea typeface="Poppins Bold"/>
                <a:cs typeface="Poppins Bold"/>
                <a:sym typeface="Poppins Bold"/>
              </a:rPr>
              <a:t>PRAKTIK YANG BAIK DALAM GIT</a:t>
            </a:r>
          </a:p>
        </p:txBody>
      </p:sp>
      <p:sp>
        <p:nvSpPr>
          <p:cNvPr name="TextBox 6" id="6"/>
          <p:cNvSpPr txBox="true"/>
          <p:nvPr/>
        </p:nvSpPr>
        <p:spPr>
          <a:xfrm rot="0">
            <a:off x="9212718" y="5312940"/>
            <a:ext cx="5832409" cy="1135874"/>
          </a:xfrm>
          <a:prstGeom prst="rect">
            <a:avLst/>
          </a:prstGeom>
        </p:spPr>
        <p:txBody>
          <a:bodyPr anchor="t" rtlCol="false" tIns="0" lIns="0" bIns="0" rIns="0">
            <a:spAutoFit/>
          </a:bodyPr>
          <a:lstStyle/>
          <a:p>
            <a:pPr algn="l" marL="0" indent="0" lvl="0">
              <a:lnSpc>
                <a:spcPts val="2909"/>
              </a:lnSpc>
              <a:spcBef>
                <a:spcPct val="0"/>
              </a:spcBef>
            </a:pPr>
            <a:r>
              <a:rPr lang="en-US" sz="2770" spc="-213">
                <a:solidFill>
                  <a:srgbClr val="FFFFFF"/>
                </a:solidFill>
                <a:latin typeface="Poppins"/>
                <a:ea typeface="Poppins"/>
                <a:cs typeface="Poppins"/>
                <a:sym typeface="Poppins"/>
              </a:rPr>
              <a:t>Kebiasaan baik dalam menggunakan Git untuk pengembangan yang terstruktur dan aman</a:t>
            </a:r>
          </a:p>
        </p:txBody>
      </p:sp>
      <p:sp>
        <p:nvSpPr>
          <p:cNvPr name="TextBox 7" id="7"/>
          <p:cNvSpPr txBox="true"/>
          <p:nvPr/>
        </p:nvSpPr>
        <p:spPr>
          <a:xfrm rot="0">
            <a:off x="9144000" y="7533671"/>
            <a:ext cx="8772692" cy="2056332"/>
          </a:xfrm>
          <a:prstGeom prst="rect">
            <a:avLst/>
          </a:prstGeom>
        </p:spPr>
        <p:txBody>
          <a:bodyPr anchor="t" rtlCol="false" tIns="0" lIns="0" bIns="0" rIns="0">
            <a:spAutoFit/>
          </a:bodyPr>
          <a:lstStyle/>
          <a:p>
            <a:pPr algn="l" marL="0" indent="0" lvl="0">
              <a:lnSpc>
                <a:spcPts val="2775"/>
              </a:lnSpc>
              <a:spcBef>
                <a:spcPct val="0"/>
              </a:spcBef>
            </a:pPr>
            <a:r>
              <a:rPr lang="en-US" sz="1982">
                <a:solidFill>
                  <a:srgbClr val="2F2A2A"/>
                </a:solidFill>
                <a:latin typeface="Poppins"/>
                <a:ea typeface="Poppins"/>
                <a:cs typeface="Poppins"/>
                <a:sym typeface="Poppins"/>
              </a:rPr>
              <a:t>✔ Lakukan commit secara berkala</a:t>
            </a:r>
          </a:p>
          <a:p>
            <a:pPr algn="l" marL="0" indent="0" lvl="0">
              <a:lnSpc>
                <a:spcPts val="2775"/>
              </a:lnSpc>
              <a:spcBef>
                <a:spcPct val="0"/>
              </a:spcBef>
            </a:pPr>
            <a:r>
              <a:rPr lang="en-US" sz="1982">
                <a:solidFill>
                  <a:srgbClr val="2F2A2A"/>
                </a:solidFill>
                <a:latin typeface="Poppins"/>
                <a:ea typeface="Poppins"/>
                <a:cs typeface="Poppins"/>
                <a:sym typeface="Poppins"/>
              </a:rPr>
              <a:t>✔ Gunakan pesan commit yang jelas dan deskriptif</a:t>
            </a:r>
          </a:p>
          <a:p>
            <a:pPr algn="l" marL="0" indent="0" lvl="0">
              <a:lnSpc>
                <a:spcPts val="2775"/>
              </a:lnSpc>
              <a:spcBef>
                <a:spcPct val="0"/>
              </a:spcBef>
            </a:pPr>
            <a:r>
              <a:rPr lang="en-US" sz="1982">
                <a:solidFill>
                  <a:srgbClr val="2F2A2A"/>
                </a:solidFill>
                <a:latin typeface="Poppins"/>
                <a:ea typeface="Poppins"/>
                <a:cs typeface="Poppins"/>
                <a:sym typeface="Poppins"/>
              </a:rPr>
              <a:t>✔ Selalu cek git status sebelum commit</a:t>
            </a:r>
          </a:p>
          <a:p>
            <a:pPr algn="l" marL="0" indent="0" lvl="0">
              <a:lnSpc>
                <a:spcPts val="2775"/>
              </a:lnSpc>
              <a:spcBef>
                <a:spcPct val="0"/>
              </a:spcBef>
            </a:pPr>
            <a:r>
              <a:rPr lang="en-US" sz="1982">
                <a:solidFill>
                  <a:srgbClr val="2F2A2A"/>
                </a:solidFill>
                <a:latin typeface="Poppins"/>
                <a:ea typeface="Poppins"/>
                <a:cs typeface="Poppins"/>
                <a:sym typeface="Poppins"/>
              </a:rPr>
              <a:t>✔ Gunakan branch untuk setiap fitur baru</a:t>
            </a:r>
          </a:p>
          <a:p>
            <a:pPr algn="l" marL="0" indent="0" lvl="0">
              <a:lnSpc>
                <a:spcPts val="2775"/>
              </a:lnSpc>
              <a:spcBef>
                <a:spcPct val="0"/>
              </a:spcBef>
            </a:pPr>
            <a:r>
              <a:rPr lang="en-US" sz="1982">
                <a:solidFill>
                  <a:srgbClr val="2F2A2A"/>
                </a:solidFill>
                <a:latin typeface="Poppins"/>
                <a:ea typeface="Poppins"/>
                <a:cs typeface="Poppins"/>
                <a:sym typeface="Poppins"/>
              </a:rPr>
              <a:t>✔ Push perubahan secara rutin ke GitHub</a:t>
            </a:r>
          </a:p>
          <a:p>
            <a:pPr algn="l" marL="0" indent="0" lvl="0">
              <a:lnSpc>
                <a:spcPts val="2775"/>
              </a:lnSpc>
              <a:spcBef>
                <a:spcPct val="0"/>
              </a:spcBef>
            </a:pPr>
            <a:r>
              <a:rPr lang="en-US" sz="1982">
                <a:solidFill>
                  <a:srgbClr val="2F2A2A"/>
                </a:solidFill>
                <a:latin typeface="Poppins"/>
                <a:ea typeface="Poppins"/>
                <a:cs typeface="Poppins"/>
                <a:sym typeface="Poppins"/>
              </a:rPr>
              <a:t>✖ Jangan menyimpan password atau data sensitif</a:t>
            </a:r>
          </a:p>
        </p:txBody>
      </p:sp>
      <p:sp>
        <p:nvSpPr>
          <p:cNvPr name="Freeform 8" id="8"/>
          <p:cNvSpPr/>
          <p:nvPr/>
        </p:nvSpPr>
        <p:spPr>
          <a:xfrm flipH="false" flipV="false" rot="0">
            <a:off x="14362367" y="2232083"/>
            <a:ext cx="1736540" cy="950361"/>
          </a:xfrm>
          <a:custGeom>
            <a:avLst/>
            <a:gdLst/>
            <a:ahLst/>
            <a:cxnLst/>
            <a:rect r="r" b="b" t="t" l="l"/>
            <a:pathLst>
              <a:path h="950361" w="1736540">
                <a:moveTo>
                  <a:pt x="0" y="0"/>
                </a:moveTo>
                <a:lnTo>
                  <a:pt x="1736540" y="0"/>
                </a:lnTo>
                <a:lnTo>
                  <a:pt x="1736540" y="950361"/>
                </a:lnTo>
                <a:lnTo>
                  <a:pt x="0" y="9503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44264" y="-2932858"/>
            <a:ext cx="9033260" cy="9066228"/>
          </a:xfrm>
          <a:custGeom>
            <a:avLst/>
            <a:gdLst/>
            <a:ahLst/>
            <a:cxnLst/>
            <a:rect r="r" b="b" t="t" l="l"/>
            <a:pathLst>
              <a:path h="9066228" w="9033260">
                <a:moveTo>
                  <a:pt x="0" y="0"/>
                </a:moveTo>
                <a:lnTo>
                  <a:pt x="9033260" y="0"/>
                </a:lnTo>
                <a:lnTo>
                  <a:pt x="9033260" y="9066229"/>
                </a:lnTo>
                <a:lnTo>
                  <a:pt x="0" y="9066229"/>
                </a:lnTo>
                <a:lnTo>
                  <a:pt x="0" y="0"/>
                </a:lnTo>
                <a:close/>
              </a:path>
            </a:pathLst>
          </a:custGeom>
          <a:blipFill>
            <a:blip r:embed="rId4"/>
            <a:stretch>
              <a:fillRect l="0" t="0" r="0" b="0"/>
            </a:stretch>
          </a:blipFill>
        </p:spPr>
      </p:sp>
      <p:grpSp>
        <p:nvGrpSpPr>
          <p:cNvPr name="Group 10" id="10"/>
          <p:cNvGrpSpPr/>
          <p:nvPr/>
        </p:nvGrpSpPr>
        <p:grpSpPr>
          <a:xfrm rot="0">
            <a:off x="-1243270" y="-2415379"/>
            <a:ext cx="8031271" cy="803127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550114" y="-1722224"/>
            <a:ext cx="6644960" cy="664496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66675" cap="sq">
              <a:solidFill>
                <a:srgbClr val="FFFFFF"/>
              </a:solidFill>
              <a:prstDash val="solid"/>
              <a:miter/>
            </a:ln>
          </p:spPr>
        </p:sp>
      </p:grpSp>
      <p:sp>
        <p:nvSpPr>
          <p:cNvPr name="Freeform 15" id="15"/>
          <p:cNvSpPr/>
          <p:nvPr/>
        </p:nvSpPr>
        <p:spPr>
          <a:xfrm flipH="false" flipV="false" rot="0">
            <a:off x="1216008" y="2793728"/>
            <a:ext cx="7181461" cy="7207671"/>
          </a:xfrm>
          <a:custGeom>
            <a:avLst/>
            <a:gdLst/>
            <a:ahLst/>
            <a:cxnLst/>
            <a:rect r="r" b="b" t="t" l="l"/>
            <a:pathLst>
              <a:path h="7207671" w="7181461">
                <a:moveTo>
                  <a:pt x="0" y="0"/>
                </a:moveTo>
                <a:lnTo>
                  <a:pt x="7181461" y="0"/>
                </a:lnTo>
                <a:lnTo>
                  <a:pt x="7181461" y="7207671"/>
                </a:lnTo>
                <a:lnTo>
                  <a:pt x="0" y="7207671"/>
                </a:lnTo>
                <a:lnTo>
                  <a:pt x="0" y="0"/>
                </a:lnTo>
                <a:close/>
              </a:path>
            </a:pathLst>
          </a:custGeom>
          <a:blipFill>
            <a:blip r:embed="rId4"/>
            <a:stretch>
              <a:fillRect l="0" t="0" r="0" b="0"/>
            </a:stretch>
          </a:blipFill>
        </p:spPr>
      </p:sp>
      <p:grpSp>
        <p:nvGrpSpPr>
          <p:cNvPr name="Group 16" id="16"/>
          <p:cNvGrpSpPr/>
          <p:nvPr/>
        </p:nvGrpSpPr>
        <p:grpSpPr>
          <a:xfrm rot="0">
            <a:off x="1614299" y="3205125"/>
            <a:ext cx="6384877" cy="63848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2165359" y="3756185"/>
            <a:ext cx="5282757" cy="528275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66675" cap="sq">
              <a:solidFill>
                <a:srgbClr val="FFFFFF"/>
              </a:solidFill>
              <a:prstDash val="solid"/>
              <a:miter/>
            </a:ln>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9144000" y="-721470"/>
            <a:ext cx="11474423" cy="6022472"/>
            <a:chOff x="0" y="0"/>
            <a:chExt cx="3022070" cy="1586166"/>
          </a:xfrm>
        </p:grpSpPr>
        <p:sp>
          <p:nvSpPr>
            <p:cNvPr name="Freeform 3" id="3"/>
            <p:cNvSpPr/>
            <p:nvPr/>
          </p:nvSpPr>
          <p:spPr>
            <a:xfrm flipH="false" flipV="false" rot="0">
              <a:off x="0" y="0"/>
              <a:ext cx="3022070" cy="1586166"/>
            </a:xfrm>
            <a:custGeom>
              <a:avLst/>
              <a:gdLst/>
              <a:ahLst/>
              <a:cxnLst/>
              <a:rect r="r" b="b" t="t" l="l"/>
              <a:pathLst>
                <a:path h="1586166" w="3022070">
                  <a:moveTo>
                    <a:pt x="29687" y="0"/>
                  </a:moveTo>
                  <a:lnTo>
                    <a:pt x="2992383" y="0"/>
                  </a:lnTo>
                  <a:cubicBezTo>
                    <a:pt x="3000257" y="0"/>
                    <a:pt x="3007808" y="3128"/>
                    <a:pt x="3013375" y="8695"/>
                  </a:cubicBezTo>
                  <a:cubicBezTo>
                    <a:pt x="3018943" y="14263"/>
                    <a:pt x="3022070" y="21814"/>
                    <a:pt x="3022070" y="29687"/>
                  </a:cubicBezTo>
                  <a:lnTo>
                    <a:pt x="3022070" y="1556478"/>
                  </a:lnTo>
                  <a:cubicBezTo>
                    <a:pt x="3022070" y="1564352"/>
                    <a:pt x="3018943" y="1571903"/>
                    <a:pt x="3013375" y="1577470"/>
                  </a:cubicBezTo>
                  <a:cubicBezTo>
                    <a:pt x="3007808" y="1583038"/>
                    <a:pt x="3000257" y="1586166"/>
                    <a:pt x="2992383" y="1586166"/>
                  </a:cubicBezTo>
                  <a:lnTo>
                    <a:pt x="29687" y="1586166"/>
                  </a:lnTo>
                  <a:cubicBezTo>
                    <a:pt x="21814" y="1586166"/>
                    <a:pt x="14263" y="1583038"/>
                    <a:pt x="8695" y="1577470"/>
                  </a:cubicBezTo>
                  <a:cubicBezTo>
                    <a:pt x="3128" y="1571903"/>
                    <a:pt x="0" y="1564352"/>
                    <a:pt x="0" y="1556478"/>
                  </a:cubicBezTo>
                  <a:lnTo>
                    <a:pt x="0" y="29687"/>
                  </a:lnTo>
                  <a:cubicBezTo>
                    <a:pt x="0" y="21814"/>
                    <a:pt x="3128" y="14263"/>
                    <a:pt x="8695" y="8695"/>
                  </a:cubicBezTo>
                  <a:cubicBezTo>
                    <a:pt x="14263" y="3128"/>
                    <a:pt x="21814" y="0"/>
                    <a:pt x="29687" y="0"/>
                  </a:cubicBezTo>
                  <a:close/>
                </a:path>
              </a:pathLst>
            </a:custGeom>
            <a:solidFill>
              <a:srgbClr val="FFFFFF"/>
            </a:solidFill>
          </p:spPr>
        </p:sp>
        <p:sp>
          <p:nvSpPr>
            <p:cNvPr name="TextBox 4" id="4"/>
            <p:cNvSpPr txBox="true"/>
            <p:nvPr/>
          </p:nvSpPr>
          <p:spPr>
            <a:xfrm>
              <a:off x="0" y="-38100"/>
              <a:ext cx="3022070" cy="1624266"/>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646004" y="1703973"/>
            <a:ext cx="6362711" cy="4337125"/>
          </a:xfrm>
          <a:prstGeom prst="rect">
            <a:avLst/>
          </a:prstGeom>
        </p:spPr>
        <p:txBody>
          <a:bodyPr anchor="t" rtlCol="false" tIns="0" lIns="0" bIns="0" rIns="0">
            <a:spAutoFit/>
          </a:bodyPr>
          <a:lstStyle/>
          <a:p>
            <a:pPr algn="l" marL="0" indent="0" lvl="0">
              <a:lnSpc>
                <a:spcPts val="8405"/>
              </a:lnSpc>
            </a:pPr>
            <a:r>
              <a:rPr lang="en-US" b="true" sz="8005" spc="-576">
                <a:solidFill>
                  <a:srgbClr val="FFFFFF"/>
                </a:solidFill>
                <a:latin typeface="Poppins Bold"/>
                <a:ea typeface="Poppins Bold"/>
                <a:cs typeface="Poppins Bold"/>
                <a:sym typeface="Poppins Bold"/>
              </a:rPr>
              <a:t>PRAKTIKUM: MEMBUAT REPOSITORY GITHUB</a:t>
            </a:r>
          </a:p>
        </p:txBody>
      </p:sp>
      <p:sp>
        <p:nvSpPr>
          <p:cNvPr name="TextBox 6" id="6"/>
          <p:cNvSpPr txBox="true"/>
          <p:nvPr/>
        </p:nvSpPr>
        <p:spPr>
          <a:xfrm rot="0">
            <a:off x="1646004" y="6381362"/>
            <a:ext cx="6362711" cy="858167"/>
          </a:xfrm>
          <a:prstGeom prst="rect">
            <a:avLst/>
          </a:prstGeom>
        </p:spPr>
        <p:txBody>
          <a:bodyPr anchor="t" rtlCol="false" tIns="0" lIns="0" bIns="0" rIns="0">
            <a:spAutoFit/>
          </a:bodyPr>
          <a:lstStyle/>
          <a:p>
            <a:pPr algn="l" marL="0" indent="0" lvl="0">
              <a:lnSpc>
                <a:spcPts val="3200"/>
              </a:lnSpc>
              <a:spcBef>
                <a:spcPct val="0"/>
              </a:spcBef>
            </a:pPr>
            <a:r>
              <a:rPr lang="en-US" sz="3048" spc="-234">
                <a:solidFill>
                  <a:srgbClr val="FFFFFF"/>
                </a:solidFill>
                <a:latin typeface="Poppins"/>
                <a:ea typeface="Poppins"/>
                <a:cs typeface="Poppins"/>
                <a:sym typeface="Poppins"/>
              </a:rPr>
              <a:t>Langkah 1–3: Membuat Repo dan Folder Project Lokal</a:t>
            </a:r>
          </a:p>
        </p:txBody>
      </p:sp>
      <p:sp>
        <p:nvSpPr>
          <p:cNvPr name="TextBox 7" id="7"/>
          <p:cNvSpPr txBox="true"/>
          <p:nvPr/>
        </p:nvSpPr>
        <p:spPr>
          <a:xfrm rot="0">
            <a:off x="1646004" y="7479512"/>
            <a:ext cx="7964320" cy="1676630"/>
          </a:xfrm>
          <a:prstGeom prst="rect">
            <a:avLst/>
          </a:prstGeom>
        </p:spPr>
        <p:txBody>
          <a:bodyPr anchor="t" rtlCol="false" tIns="0" lIns="0" bIns="0" rIns="0">
            <a:spAutoFit/>
          </a:bodyPr>
          <a:lstStyle/>
          <a:p>
            <a:pPr algn="l" marL="350399" indent="-175200" lvl="1">
              <a:lnSpc>
                <a:spcPts val="2272"/>
              </a:lnSpc>
              <a:spcBef>
                <a:spcPct val="0"/>
              </a:spcBef>
              <a:buAutoNum type="arabicPeriod" startAt="1"/>
            </a:pPr>
            <a:r>
              <a:rPr lang="en-US" sz="1622">
                <a:solidFill>
                  <a:srgbClr val="FFFFFF"/>
                </a:solidFill>
                <a:latin typeface="Poppins"/>
                <a:ea typeface="Poppins"/>
                <a:cs typeface="Poppins"/>
                <a:sym typeface="Poppins"/>
              </a:rPr>
              <a:t>Buat Repository baru di GitHub (hacklab-git-dasar, Public, tanpa README)</a:t>
            </a:r>
          </a:p>
          <a:p>
            <a:pPr algn="l" marL="350399" indent="-175200" lvl="1">
              <a:lnSpc>
                <a:spcPts val="2272"/>
              </a:lnSpc>
              <a:spcBef>
                <a:spcPct val="0"/>
              </a:spcBef>
              <a:buAutoNum type="arabicPeriod" startAt="1"/>
            </a:pPr>
            <a:r>
              <a:rPr lang="en-US" sz="1622">
                <a:solidFill>
                  <a:srgbClr val="FFFFFF"/>
                </a:solidFill>
                <a:latin typeface="Poppins"/>
                <a:ea typeface="Poppins"/>
                <a:cs typeface="Poppins"/>
                <a:sym typeface="Poppins"/>
              </a:rPr>
              <a:t>Buat folder project lokal:</a:t>
            </a:r>
          </a:p>
          <a:p>
            <a:pPr algn="l" marL="350399" indent="-175200" lvl="1">
              <a:lnSpc>
                <a:spcPts val="2272"/>
              </a:lnSpc>
              <a:spcBef>
                <a:spcPct val="0"/>
              </a:spcBef>
              <a:buAutoNum type="arabicPeriod" startAt="1"/>
            </a:pPr>
            <a:r>
              <a:rPr lang="en-US" sz="1622">
                <a:solidFill>
                  <a:srgbClr val="FFFFFF"/>
                </a:solidFill>
                <a:latin typeface="Poppins"/>
                <a:ea typeface="Poppins"/>
                <a:cs typeface="Poppins"/>
                <a:sym typeface="Poppins"/>
              </a:rPr>
              <a:t>mkdir hacklab-git-dasar</a:t>
            </a:r>
          </a:p>
          <a:p>
            <a:pPr algn="l" marL="350399" indent="-175200" lvl="1">
              <a:lnSpc>
                <a:spcPts val="2272"/>
              </a:lnSpc>
              <a:spcBef>
                <a:spcPct val="0"/>
              </a:spcBef>
              <a:buAutoNum type="arabicPeriod" startAt="1"/>
            </a:pPr>
            <a:r>
              <a:rPr lang="en-US" sz="1622">
                <a:solidFill>
                  <a:srgbClr val="FFFFFF"/>
                </a:solidFill>
                <a:latin typeface="Poppins"/>
                <a:ea typeface="Poppins"/>
                <a:cs typeface="Poppins"/>
                <a:sym typeface="Poppins"/>
              </a:rPr>
              <a:t>cd hacklab-git-dasar</a:t>
            </a:r>
          </a:p>
          <a:p>
            <a:pPr algn="l" marL="350399" indent="-175200" lvl="1">
              <a:lnSpc>
                <a:spcPts val="2272"/>
              </a:lnSpc>
              <a:spcBef>
                <a:spcPct val="0"/>
              </a:spcBef>
              <a:buAutoNum type="arabicPeriod" startAt="1"/>
            </a:pPr>
            <a:r>
              <a:rPr lang="en-US" sz="1622">
                <a:solidFill>
                  <a:srgbClr val="FFFFFF"/>
                </a:solidFill>
                <a:latin typeface="Poppins"/>
                <a:ea typeface="Poppins"/>
                <a:cs typeface="Poppins"/>
                <a:sym typeface="Poppins"/>
              </a:rPr>
              <a:t>Buat file README.md:</a:t>
            </a:r>
          </a:p>
          <a:p>
            <a:pPr algn="l" marL="350399" indent="-175200" lvl="1">
              <a:lnSpc>
                <a:spcPts val="2272"/>
              </a:lnSpc>
              <a:spcBef>
                <a:spcPct val="0"/>
              </a:spcBef>
              <a:buAutoNum type="arabicPeriod" startAt="1"/>
            </a:pPr>
            <a:r>
              <a:rPr lang="en-US" sz="1622">
                <a:solidFill>
                  <a:srgbClr val="FFFFFF"/>
                </a:solidFill>
                <a:latin typeface="Poppins"/>
                <a:ea typeface="Poppins"/>
                <a:cs typeface="Poppins"/>
                <a:sym typeface="Poppins"/>
              </a:rPr>
              <a:t>echo "# HackLab Git Dasar" &gt; README.md</a:t>
            </a:r>
          </a:p>
        </p:txBody>
      </p:sp>
      <p:sp>
        <p:nvSpPr>
          <p:cNvPr name="TextBox 8" id="8"/>
          <p:cNvSpPr txBox="true"/>
          <p:nvPr/>
        </p:nvSpPr>
        <p:spPr>
          <a:xfrm rot="0">
            <a:off x="12937546" y="1627773"/>
            <a:ext cx="4165213" cy="1071290"/>
          </a:xfrm>
          <a:prstGeom prst="rect">
            <a:avLst/>
          </a:prstGeom>
        </p:spPr>
        <p:txBody>
          <a:bodyPr anchor="t" rtlCol="false" tIns="0" lIns="0" bIns="0" rIns="0">
            <a:spAutoFit/>
          </a:bodyPr>
          <a:lstStyle/>
          <a:p>
            <a:pPr algn="l" marL="0" indent="0" lvl="0">
              <a:lnSpc>
                <a:spcPts val="2176"/>
              </a:lnSpc>
              <a:spcBef>
                <a:spcPct val="0"/>
              </a:spcBef>
            </a:pPr>
            <a:r>
              <a:rPr lang="en-US" sz="1554">
                <a:gradFill>
                  <a:gsLst>
                    <a:gs pos="0">
                      <a:srgbClr val="109590">
                        <a:alpha val="100000"/>
                      </a:srgbClr>
                    </a:gs>
                    <a:gs pos="100000">
                      <a:srgbClr val="0B3450">
                        <a:alpha val="100000"/>
                      </a:srgbClr>
                    </a:gs>
                  </a:gsLst>
                  <a:lin ang="2700000"/>
                </a:gradFill>
                <a:latin typeface="Poppins"/>
                <a:ea typeface="Poppins"/>
                <a:cs typeface="Poppins"/>
                <a:sym typeface="Poppins"/>
              </a:rPr>
              <a:t>Pastikan nama repository sesuai, visibilitas Public, dan tidak mencentang opsi Add README agar proses push awal berjalan lancar.</a:t>
            </a:r>
          </a:p>
        </p:txBody>
      </p:sp>
      <p:sp>
        <p:nvSpPr>
          <p:cNvPr name="Freeform 9" id="9"/>
          <p:cNvSpPr/>
          <p:nvPr/>
        </p:nvSpPr>
        <p:spPr>
          <a:xfrm flipH="false" flipV="false" rot="0">
            <a:off x="7700230" y="-1170226"/>
            <a:ext cx="4892344" cy="4910199"/>
          </a:xfrm>
          <a:custGeom>
            <a:avLst/>
            <a:gdLst/>
            <a:ahLst/>
            <a:cxnLst/>
            <a:rect r="r" b="b" t="t" l="l"/>
            <a:pathLst>
              <a:path h="4910199" w="4892344">
                <a:moveTo>
                  <a:pt x="0" y="0"/>
                </a:moveTo>
                <a:lnTo>
                  <a:pt x="4892344" y="0"/>
                </a:lnTo>
                <a:lnTo>
                  <a:pt x="4892344" y="4910199"/>
                </a:lnTo>
                <a:lnTo>
                  <a:pt x="0" y="4910199"/>
                </a:lnTo>
                <a:lnTo>
                  <a:pt x="0" y="0"/>
                </a:lnTo>
                <a:close/>
              </a:path>
            </a:pathLst>
          </a:custGeom>
          <a:blipFill>
            <a:blip r:embed="rId2"/>
            <a:stretch>
              <a:fillRect l="0" t="0" r="0" b="0"/>
            </a:stretch>
          </a:blipFill>
        </p:spPr>
      </p:sp>
      <p:grpSp>
        <p:nvGrpSpPr>
          <p:cNvPr name="Group 10" id="10"/>
          <p:cNvGrpSpPr/>
          <p:nvPr/>
        </p:nvGrpSpPr>
        <p:grpSpPr>
          <a:xfrm rot="0">
            <a:off x="7971565" y="-889964"/>
            <a:ext cx="4349674" cy="434967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8346972" y="-514556"/>
            <a:ext cx="3598859" cy="359885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
        <p:nvSpPr>
          <p:cNvPr name="Freeform 15" id="15"/>
          <p:cNvSpPr/>
          <p:nvPr/>
        </p:nvSpPr>
        <p:spPr>
          <a:xfrm flipH="false" flipV="false" rot="0">
            <a:off x="9915629" y="3739973"/>
            <a:ext cx="9033260" cy="9066228"/>
          </a:xfrm>
          <a:custGeom>
            <a:avLst/>
            <a:gdLst/>
            <a:ahLst/>
            <a:cxnLst/>
            <a:rect r="r" b="b" t="t" l="l"/>
            <a:pathLst>
              <a:path h="9066228" w="9033260">
                <a:moveTo>
                  <a:pt x="0" y="0"/>
                </a:moveTo>
                <a:lnTo>
                  <a:pt x="9033260" y="0"/>
                </a:lnTo>
                <a:lnTo>
                  <a:pt x="9033260" y="9066228"/>
                </a:lnTo>
                <a:lnTo>
                  <a:pt x="0" y="9066228"/>
                </a:lnTo>
                <a:lnTo>
                  <a:pt x="0" y="0"/>
                </a:lnTo>
                <a:close/>
              </a:path>
            </a:pathLst>
          </a:custGeom>
          <a:blipFill>
            <a:blip r:embed="rId2"/>
            <a:stretch>
              <a:fillRect l="0" t="0" r="0" b="0"/>
            </a:stretch>
          </a:blipFill>
        </p:spPr>
      </p:sp>
      <p:grpSp>
        <p:nvGrpSpPr>
          <p:cNvPr name="Group 16" id="16"/>
          <p:cNvGrpSpPr/>
          <p:nvPr/>
        </p:nvGrpSpPr>
        <p:grpSpPr>
          <a:xfrm rot="0">
            <a:off x="10416623" y="4257451"/>
            <a:ext cx="8031271" cy="803127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11109779" y="4950607"/>
            <a:ext cx="6644960" cy="664496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66675" cap="sq">
              <a:solidFill>
                <a:srgbClr val="FFFFFF"/>
              </a:solidFill>
              <a:prstDash val="solid"/>
              <a:miter/>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a:off x="11347169" y="6742773"/>
            <a:ext cx="0" cy="2515527"/>
          </a:xfrm>
          <a:prstGeom prst="line">
            <a:avLst/>
          </a:prstGeom>
          <a:ln cap="flat" w="28575">
            <a:solidFill>
              <a:srgbClr val="FFFFFF"/>
            </a:solidFill>
            <a:prstDash val="solid"/>
            <a:headEnd type="none" len="sm" w="sm"/>
            <a:tailEnd type="none" len="sm" w="sm"/>
          </a:ln>
        </p:spPr>
      </p:sp>
      <p:grpSp>
        <p:nvGrpSpPr>
          <p:cNvPr name="Group 3" id="3"/>
          <p:cNvGrpSpPr/>
          <p:nvPr/>
        </p:nvGrpSpPr>
        <p:grpSpPr>
          <a:xfrm rot="0">
            <a:off x="1677228" y="1549759"/>
            <a:ext cx="17601897" cy="4814868"/>
            <a:chOff x="0" y="0"/>
            <a:chExt cx="4635891" cy="1268113"/>
          </a:xfrm>
        </p:grpSpPr>
        <p:sp>
          <p:nvSpPr>
            <p:cNvPr name="Freeform 4" id="4"/>
            <p:cNvSpPr/>
            <p:nvPr/>
          </p:nvSpPr>
          <p:spPr>
            <a:xfrm flipH="false" flipV="false" rot="0">
              <a:off x="0" y="0"/>
              <a:ext cx="4635891" cy="1268113"/>
            </a:xfrm>
            <a:custGeom>
              <a:avLst/>
              <a:gdLst/>
              <a:ahLst/>
              <a:cxnLst/>
              <a:rect r="r" b="b" t="t" l="l"/>
              <a:pathLst>
                <a:path h="1268113" w="4635891">
                  <a:moveTo>
                    <a:pt x="19353" y="0"/>
                  </a:moveTo>
                  <a:lnTo>
                    <a:pt x="4616538" y="0"/>
                  </a:lnTo>
                  <a:cubicBezTo>
                    <a:pt x="4621671" y="0"/>
                    <a:pt x="4626593" y="2039"/>
                    <a:pt x="4630222" y="5668"/>
                  </a:cubicBezTo>
                  <a:cubicBezTo>
                    <a:pt x="4633852" y="9298"/>
                    <a:pt x="4635891" y="14220"/>
                    <a:pt x="4635891" y="19353"/>
                  </a:cubicBezTo>
                  <a:lnTo>
                    <a:pt x="4635891" y="1248761"/>
                  </a:lnTo>
                  <a:cubicBezTo>
                    <a:pt x="4635891" y="1253893"/>
                    <a:pt x="4633852" y="1258816"/>
                    <a:pt x="4630222" y="1262445"/>
                  </a:cubicBezTo>
                  <a:cubicBezTo>
                    <a:pt x="4626593" y="1266074"/>
                    <a:pt x="4621671" y="1268113"/>
                    <a:pt x="4616538" y="1268113"/>
                  </a:cubicBezTo>
                  <a:lnTo>
                    <a:pt x="19353" y="1268113"/>
                  </a:lnTo>
                  <a:cubicBezTo>
                    <a:pt x="8665" y="1268113"/>
                    <a:pt x="0" y="1259449"/>
                    <a:pt x="0" y="1248761"/>
                  </a:cubicBezTo>
                  <a:lnTo>
                    <a:pt x="0" y="19353"/>
                  </a:lnTo>
                  <a:cubicBezTo>
                    <a:pt x="0" y="14220"/>
                    <a:pt x="2039" y="9298"/>
                    <a:pt x="5668" y="5668"/>
                  </a:cubicBezTo>
                  <a:cubicBezTo>
                    <a:pt x="9298" y="2039"/>
                    <a:pt x="14220" y="0"/>
                    <a:pt x="19353" y="0"/>
                  </a:cubicBezTo>
                  <a:close/>
                </a:path>
              </a:pathLst>
            </a:custGeom>
            <a:solidFill>
              <a:srgbClr val="FFFFFF"/>
            </a:solidFill>
          </p:spPr>
        </p:sp>
        <p:sp>
          <p:nvSpPr>
            <p:cNvPr name="TextBox 5" id="5"/>
            <p:cNvSpPr txBox="true"/>
            <p:nvPr/>
          </p:nvSpPr>
          <p:spPr>
            <a:xfrm>
              <a:off x="0" y="-38100"/>
              <a:ext cx="4635891" cy="1306213"/>
            </a:xfrm>
            <a:prstGeom prst="rect">
              <a:avLst/>
            </a:prstGeom>
          </p:spPr>
          <p:txBody>
            <a:bodyPr anchor="ctr" rtlCol="false" tIns="50800" lIns="50800" bIns="50800" rIns="50800"/>
            <a:lstStyle/>
            <a:p>
              <a:pPr algn="ctr" marL="0" indent="0" lvl="0">
                <a:lnSpc>
                  <a:spcPts val="2659"/>
                </a:lnSpc>
              </a:pPr>
            </a:p>
          </p:txBody>
        </p:sp>
      </p:grpSp>
      <p:sp>
        <p:nvSpPr>
          <p:cNvPr name="Freeform 6" id="6"/>
          <p:cNvSpPr/>
          <p:nvPr/>
        </p:nvSpPr>
        <p:spPr>
          <a:xfrm flipH="false" flipV="false" rot="0">
            <a:off x="12740582" y="-1088648"/>
            <a:ext cx="7426172" cy="7453275"/>
          </a:xfrm>
          <a:custGeom>
            <a:avLst/>
            <a:gdLst/>
            <a:ahLst/>
            <a:cxnLst/>
            <a:rect r="r" b="b" t="t" l="l"/>
            <a:pathLst>
              <a:path h="7453275" w="7426172">
                <a:moveTo>
                  <a:pt x="0" y="0"/>
                </a:moveTo>
                <a:lnTo>
                  <a:pt x="7426172" y="0"/>
                </a:lnTo>
                <a:lnTo>
                  <a:pt x="7426172" y="7453275"/>
                </a:lnTo>
                <a:lnTo>
                  <a:pt x="0" y="7453275"/>
                </a:lnTo>
                <a:lnTo>
                  <a:pt x="0" y="0"/>
                </a:lnTo>
                <a:close/>
              </a:path>
            </a:pathLst>
          </a:custGeom>
          <a:blipFill>
            <a:blip r:embed="rId2"/>
            <a:stretch>
              <a:fillRect l="0" t="0" r="0" b="0"/>
            </a:stretch>
          </a:blipFill>
        </p:spPr>
      </p:sp>
      <p:grpSp>
        <p:nvGrpSpPr>
          <p:cNvPr name="Group 7" id="7"/>
          <p:cNvGrpSpPr/>
          <p:nvPr/>
        </p:nvGrpSpPr>
        <p:grpSpPr>
          <a:xfrm rot="0">
            <a:off x="13152445" y="-663233"/>
            <a:ext cx="6602445" cy="660244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13722283" y="-93395"/>
            <a:ext cx="5462770" cy="546277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
        <p:nvSpPr>
          <p:cNvPr name="TextBox 12" id="12"/>
          <p:cNvSpPr txBox="true"/>
          <p:nvPr/>
        </p:nvSpPr>
        <p:spPr>
          <a:xfrm rot="0">
            <a:off x="2065713" y="1951966"/>
            <a:ext cx="6196255" cy="3195429"/>
          </a:xfrm>
          <a:prstGeom prst="rect">
            <a:avLst/>
          </a:prstGeom>
        </p:spPr>
        <p:txBody>
          <a:bodyPr anchor="t" rtlCol="false" tIns="0" lIns="0" bIns="0" rIns="0">
            <a:spAutoFit/>
          </a:bodyPr>
          <a:lstStyle/>
          <a:p>
            <a:pPr algn="l" marL="0" indent="0" lvl="0">
              <a:lnSpc>
                <a:spcPts val="8117"/>
              </a:lnSpc>
            </a:pPr>
            <a:r>
              <a:rPr lang="en-US" b="true" sz="7730" spc="-556">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PRAKTIKUM:</a:t>
            </a:r>
          </a:p>
          <a:p>
            <a:pPr algn="l" marL="0" indent="0" lvl="0">
              <a:lnSpc>
                <a:spcPts val="8117"/>
              </a:lnSpc>
            </a:pPr>
            <a:r>
              <a:rPr lang="en-US" b="true" sz="7730" spc="-556">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INISIALISASI</a:t>
            </a:r>
          </a:p>
          <a:p>
            <a:pPr algn="l" marL="0" indent="0" lvl="0">
              <a:lnSpc>
                <a:spcPts val="8117"/>
              </a:lnSpc>
            </a:pPr>
            <a:r>
              <a:rPr lang="en-US" b="true" sz="7730" spc="-556">
                <a:gradFill>
                  <a:gsLst>
                    <a:gs pos="0">
                      <a:srgbClr val="109590">
                        <a:alpha val="100000"/>
                      </a:srgbClr>
                    </a:gs>
                    <a:gs pos="100000">
                      <a:srgbClr val="0B3450">
                        <a:alpha val="100000"/>
                      </a:srgbClr>
                    </a:gs>
                  </a:gsLst>
                  <a:lin ang="2700000"/>
                </a:gradFill>
                <a:latin typeface="Poppins Bold"/>
                <a:ea typeface="Poppins Bold"/>
                <a:cs typeface="Poppins Bold"/>
                <a:sym typeface="Poppins Bold"/>
              </a:rPr>
              <a:t>GIT &amp; COMMIT</a:t>
            </a:r>
          </a:p>
        </p:txBody>
      </p:sp>
      <p:sp>
        <p:nvSpPr>
          <p:cNvPr name="TextBox 13" id="13"/>
          <p:cNvSpPr txBox="true"/>
          <p:nvPr/>
        </p:nvSpPr>
        <p:spPr>
          <a:xfrm rot="0">
            <a:off x="2065713" y="6742773"/>
            <a:ext cx="8864012" cy="858167"/>
          </a:xfrm>
          <a:prstGeom prst="rect">
            <a:avLst/>
          </a:prstGeom>
        </p:spPr>
        <p:txBody>
          <a:bodyPr anchor="t" rtlCol="false" tIns="0" lIns="0" bIns="0" rIns="0">
            <a:spAutoFit/>
          </a:bodyPr>
          <a:lstStyle/>
          <a:p>
            <a:pPr algn="l" marL="0" indent="0" lvl="0">
              <a:lnSpc>
                <a:spcPts val="3200"/>
              </a:lnSpc>
              <a:spcBef>
                <a:spcPct val="0"/>
              </a:spcBef>
            </a:pPr>
            <a:r>
              <a:rPr lang="en-US" sz="3048" spc="-234">
                <a:solidFill>
                  <a:srgbClr val="FFFFFF"/>
                </a:solidFill>
                <a:latin typeface="Poppins"/>
                <a:ea typeface="Poppins"/>
                <a:cs typeface="Poppins"/>
                <a:sym typeface="Poppins"/>
              </a:rPr>
              <a:t>Langkah 4–8: Inisialisasi Repository dan Push Pertama ke GitHub</a:t>
            </a:r>
          </a:p>
        </p:txBody>
      </p:sp>
      <p:sp>
        <p:nvSpPr>
          <p:cNvPr name="TextBox 14" id="14"/>
          <p:cNvSpPr txBox="true"/>
          <p:nvPr/>
        </p:nvSpPr>
        <p:spPr>
          <a:xfrm rot="0">
            <a:off x="2065713" y="7799179"/>
            <a:ext cx="10899060" cy="1948755"/>
          </a:xfrm>
          <a:prstGeom prst="rect">
            <a:avLst/>
          </a:prstGeom>
        </p:spPr>
        <p:txBody>
          <a:bodyPr anchor="t" rtlCol="false" tIns="0" lIns="0" bIns="0" rIns="0">
            <a:spAutoFit/>
          </a:bodyPr>
          <a:lstStyle/>
          <a:p>
            <a:pPr algn="l" marL="0" indent="0" lvl="0">
              <a:lnSpc>
                <a:spcPts val="2294"/>
              </a:lnSpc>
              <a:spcBef>
                <a:spcPct val="0"/>
              </a:spcBef>
            </a:pPr>
            <a:r>
              <a:rPr lang="en-US" sz="1639">
                <a:solidFill>
                  <a:srgbClr val="FFFFFF"/>
                </a:solidFill>
                <a:latin typeface="Poppins"/>
                <a:ea typeface="Poppins"/>
                <a:cs typeface="Poppins"/>
                <a:sym typeface="Poppins"/>
              </a:rPr>
              <a:t>git init  →  Inisialisasi repository Git lokal</a:t>
            </a:r>
          </a:p>
          <a:p>
            <a:pPr algn="l" marL="0" indent="0" lvl="0">
              <a:lnSpc>
                <a:spcPts val="2294"/>
              </a:lnSpc>
              <a:spcBef>
                <a:spcPct val="0"/>
              </a:spcBef>
            </a:pPr>
            <a:r>
              <a:rPr lang="en-US" sz="1639">
                <a:solidFill>
                  <a:srgbClr val="FFFFFF"/>
                </a:solidFill>
                <a:latin typeface="Poppins"/>
                <a:ea typeface="Poppins"/>
                <a:cs typeface="Poppins"/>
                <a:sym typeface="Poppins"/>
              </a:rPr>
              <a:t>git status  →  Cek kondisi file</a:t>
            </a:r>
          </a:p>
          <a:p>
            <a:pPr algn="l" marL="0" indent="0" lvl="0">
              <a:lnSpc>
                <a:spcPts val="2294"/>
              </a:lnSpc>
              <a:spcBef>
                <a:spcPct val="0"/>
              </a:spcBef>
            </a:pPr>
            <a:r>
              <a:rPr lang="en-US" sz="1639">
                <a:solidFill>
                  <a:srgbClr val="FFFFFF"/>
                </a:solidFill>
                <a:latin typeface="Poppins"/>
                <a:ea typeface="Poppins"/>
                <a:cs typeface="Poppins"/>
                <a:sym typeface="Poppins"/>
              </a:rPr>
              <a:t>git add .  →  Tambahkan semua file ke staging</a:t>
            </a:r>
          </a:p>
          <a:p>
            <a:pPr algn="l" marL="0" indent="0" lvl="0">
              <a:lnSpc>
                <a:spcPts val="2294"/>
              </a:lnSpc>
              <a:spcBef>
                <a:spcPct val="0"/>
              </a:spcBef>
            </a:pPr>
            <a:r>
              <a:rPr lang="en-US" sz="1639">
                <a:solidFill>
                  <a:srgbClr val="FFFFFF"/>
                </a:solidFill>
                <a:latin typeface="Poppins"/>
                <a:ea typeface="Poppins"/>
                <a:cs typeface="Poppins"/>
                <a:sym typeface="Poppins"/>
              </a:rPr>
              <a:t>git commit -m "Initial Commit"  →  Simpan perubahan</a:t>
            </a:r>
          </a:p>
          <a:p>
            <a:pPr algn="l" marL="0" indent="0" lvl="0">
              <a:lnSpc>
                <a:spcPts val="2294"/>
              </a:lnSpc>
              <a:spcBef>
                <a:spcPct val="0"/>
              </a:spcBef>
            </a:pPr>
            <a:r>
              <a:rPr lang="en-US" sz="1639">
                <a:solidFill>
                  <a:srgbClr val="FFFFFF"/>
                </a:solidFill>
                <a:latin typeface="Poppins"/>
                <a:ea typeface="Poppins"/>
                <a:cs typeface="Poppins"/>
                <a:sym typeface="Poppins"/>
              </a:rPr>
              <a:t>git remote add origin [URL]  →  Hubungkan ke GitHub</a:t>
            </a:r>
          </a:p>
          <a:p>
            <a:pPr algn="l" marL="0" indent="0" lvl="0">
              <a:lnSpc>
                <a:spcPts val="2294"/>
              </a:lnSpc>
              <a:spcBef>
                <a:spcPct val="0"/>
              </a:spcBef>
            </a:pPr>
            <a:r>
              <a:rPr lang="en-US" sz="1639">
                <a:solidFill>
                  <a:srgbClr val="FFFFFF"/>
                </a:solidFill>
                <a:latin typeface="Poppins"/>
                <a:ea typeface="Poppins"/>
                <a:cs typeface="Poppins"/>
                <a:sym typeface="Poppins"/>
              </a:rPr>
              <a:t>git branch -M main  →  Set branch utama</a:t>
            </a:r>
          </a:p>
          <a:p>
            <a:pPr algn="l" marL="0" indent="0" lvl="0">
              <a:lnSpc>
                <a:spcPts val="2294"/>
              </a:lnSpc>
              <a:spcBef>
                <a:spcPct val="0"/>
              </a:spcBef>
            </a:pPr>
            <a:r>
              <a:rPr lang="en-US" sz="1639">
                <a:solidFill>
                  <a:srgbClr val="FFFFFF"/>
                </a:solidFill>
                <a:latin typeface="Poppins"/>
                <a:ea typeface="Poppins"/>
                <a:cs typeface="Poppins"/>
                <a:sym typeface="Poppins"/>
              </a:rPr>
              <a:t>git push -u origin main  →  Kirim ke GitHub</a:t>
            </a:r>
          </a:p>
        </p:txBody>
      </p:sp>
      <p:sp>
        <p:nvSpPr>
          <p:cNvPr name="TextBox 15" id="15"/>
          <p:cNvSpPr txBox="true"/>
          <p:nvPr/>
        </p:nvSpPr>
        <p:spPr>
          <a:xfrm rot="0">
            <a:off x="11636894" y="7021965"/>
            <a:ext cx="6651106" cy="1165733"/>
          </a:xfrm>
          <a:prstGeom prst="rect">
            <a:avLst/>
          </a:prstGeom>
        </p:spPr>
        <p:txBody>
          <a:bodyPr anchor="t" rtlCol="false" tIns="0" lIns="0" bIns="0" rIns="0">
            <a:spAutoFit/>
          </a:bodyPr>
          <a:lstStyle/>
          <a:p>
            <a:pPr algn="l" marL="0" indent="0" lvl="0">
              <a:lnSpc>
                <a:spcPts val="2368"/>
              </a:lnSpc>
              <a:spcBef>
                <a:spcPct val="0"/>
              </a:spcBef>
            </a:pPr>
            <a:r>
              <a:rPr lang="en-US" sz="1692">
                <a:solidFill>
                  <a:srgbClr val="FFFFFF"/>
                </a:solidFill>
                <a:latin typeface="Poppins"/>
                <a:ea typeface="Poppins"/>
                <a:cs typeface="Poppins"/>
                <a:sym typeface="Poppins"/>
              </a:rPr>
              <a:t>Pastikan sudah membuat repository di GitHub sebelum git remote add. Gunakan URL: https://github.com/username/hacklab-git-dasar.git. Setelah push, cek di GitHub apakah file sudah muncul.</a:t>
            </a:r>
          </a:p>
        </p:txBody>
      </p:sp>
      <p:sp>
        <p:nvSpPr>
          <p:cNvPr name="Freeform 16" id="16"/>
          <p:cNvSpPr/>
          <p:nvPr/>
        </p:nvSpPr>
        <p:spPr>
          <a:xfrm flipH="false" flipV="false" rot="0">
            <a:off x="8369729" y="528033"/>
            <a:ext cx="5954882" cy="5976615"/>
          </a:xfrm>
          <a:custGeom>
            <a:avLst/>
            <a:gdLst/>
            <a:ahLst/>
            <a:cxnLst/>
            <a:rect r="r" b="b" t="t" l="l"/>
            <a:pathLst>
              <a:path h="5976615" w="5954882">
                <a:moveTo>
                  <a:pt x="0" y="0"/>
                </a:moveTo>
                <a:lnTo>
                  <a:pt x="5954881" y="0"/>
                </a:lnTo>
                <a:lnTo>
                  <a:pt x="5954881" y="5976615"/>
                </a:lnTo>
                <a:lnTo>
                  <a:pt x="0" y="5976615"/>
                </a:lnTo>
                <a:lnTo>
                  <a:pt x="0" y="0"/>
                </a:lnTo>
                <a:close/>
              </a:path>
            </a:pathLst>
          </a:custGeom>
          <a:blipFill>
            <a:blip r:embed="rId2"/>
            <a:stretch>
              <a:fillRect l="0" t="0" r="0" b="0"/>
            </a:stretch>
          </a:blipFill>
        </p:spPr>
      </p:sp>
      <p:grpSp>
        <p:nvGrpSpPr>
          <p:cNvPr name="Group 17" id="17"/>
          <p:cNvGrpSpPr/>
          <p:nvPr/>
        </p:nvGrpSpPr>
        <p:grpSpPr>
          <a:xfrm rot="0">
            <a:off x="8699993" y="869164"/>
            <a:ext cx="5294353" cy="529435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9156933" y="1326104"/>
            <a:ext cx="4380473" cy="438047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66675" cap="sq">
              <a:solidFill>
                <a:srgbClr val="FFFFFF"/>
              </a:solidFill>
              <a:prstDash val="solid"/>
              <a:miter/>
            </a:ln>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9144000" y="5090975"/>
            <a:ext cx="11295519" cy="4730727"/>
            <a:chOff x="0" y="0"/>
            <a:chExt cx="2974951" cy="1245953"/>
          </a:xfrm>
        </p:grpSpPr>
        <p:sp>
          <p:nvSpPr>
            <p:cNvPr name="Freeform 3" id="3"/>
            <p:cNvSpPr/>
            <p:nvPr/>
          </p:nvSpPr>
          <p:spPr>
            <a:xfrm flipH="false" flipV="false" rot="0">
              <a:off x="0" y="0"/>
              <a:ext cx="2974952" cy="1245953"/>
            </a:xfrm>
            <a:custGeom>
              <a:avLst/>
              <a:gdLst/>
              <a:ahLst/>
              <a:cxnLst/>
              <a:rect r="r" b="b" t="t" l="l"/>
              <a:pathLst>
                <a:path h="1245953" w="2974952">
                  <a:moveTo>
                    <a:pt x="30157" y="0"/>
                  </a:moveTo>
                  <a:lnTo>
                    <a:pt x="2944794" y="0"/>
                  </a:lnTo>
                  <a:cubicBezTo>
                    <a:pt x="2952792" y="0"/>
                    <a:pt x="2960463" y="3177"/>
                    <a:pt x="2966119" y="8833"/>
                  </a:cubicBezTo>
                  <a:cubicBezTo>
                    <a:pt x="2971774" y="14489"/>
                    <a:pt x="2974952" y="22159"/>
                    <a:pt x="2974952" y="30157"/>
                  </a:cubicBezTo>
                  <a:lnTo>
                    <a:pt x="2974952" y="1215795"/>
                  </a:lnTo>
                  <a:cubicBezTo>
                    <a:pt x="2974952" y="1223794"/>
                    <a:pt x="2971774" y="1231464"/>
                    <a:pt x="2966119" y="1237120"/>
                  </a:cubicBezTo>
                  <a:cubicBezTo>
                    <a:pt x="2960463" y="1242775"/>
                    <a:pt x="2952792" y="1245953"/>
                    <a:pt x="2944794" y="1245953"/>
                  </a:cubicBezTo>
                  <a:lnTo>
                    <a:pt x="30157" y="1245953"/>
                  </a:lnTo>
                  <a:cubicBezTo>
                    <a:pt x="22159" y="1245953"/>
                    <a:pt x="14489" y="1242775"/>
                    <a:pt x="8833" y="1237120"/>
                  </a:cubicBezTo>
                  <a:cubicBezTo>
                    <a:pt x="3177" y="1231464"/>
                    <a:pt x="0" y="1223794"/>
                    <a:pt x="0" y="1215795"/>
                  </a:cubicBezTo>
                  <a:lnTo>
                    <a:pt x="0" y="30157"/>
                  </a:lnTo>
                  <a:cubicBezTo>
                    <a:pt x="0" y="22159"/>
                    <a:pt x="3177" y="14489"/>
                    <a:pt x="8833" y="8833"/>
                  </a:cubicBezTo>
                  <a:cubicBezTo>
                    <a:pt x="14489" y="3177"/>
                    <a:pt x="22159" y="0"/>
                    <a:pt x="30157" y="0"/>
                  </a:cubicBezTo>
                  <a:close/>
                </a:path>
              </a:pathLst>
            </a:custGeom>
            <a:solidFill>
              <a:srgbClr val="FFFFFF"/>
            </a:solidFill>
          </p:spPr>
        </p:sp>
        <p:sp>
          <p:nvSpPr>
            <p:cNvPr name="TextBox 4" id="4"/>
            <p:cNvSpPr txBox="true"/>
            <p:nvPr/>
          </p:nvSpPr>
          <p:spPr>
            <a:xfrm>
              <a:off x="0" y="-38100"/>
              <a:ext cx="2974951" cy="1284053"/>
            </a:xfrm>
            <a:prstGeom prst="rect">
              <a:avLst/>
            </a:prstGeom>
          </p:spPr>
          <p:txBody>
            <a:bodyPr anchor="ctr" rtlCol="false" tIns="50800" lIns="50800" bIns="50800" rIns="50800"/>
            <a:lstStyle/>
            <a:p>
              <a:pPr algn="ctr" marL="0" indent="0" lvl="0">
                <a:lnSpc>
                  <a:spcPts val="2659"/>
                </a:lnSpc>
              </a:pPr>
            </a:p>
          </p:txBody>
        </p:sp>
      </p:grpSp>
      <p:sp>
        <p:nvSpPr>
          <p:cNvPr name="TextBox 5" id="5"/>
          <p:cNvSpPr txBox="true"/>
          <p:nvPr/>
        </p:nvSpPr>
        <p:spPr>
          <a:xfrm rot="0">
            <a:off x="1489463" y="1464114"/>
            <a:ext cx="8375385" cy="4337125"/>
          </a:xfrm>
          <a:prstGeom prst="rect">
            <a:avLst/>
          </a:prstGeom>
        </p:spPr>
        <p:txBody>
          <a:bodyPr anchor="t" rtlCol="false" tIns="0" lIns="0" bIns="0" rIns="0">
            <a:spAutoFit/>
          </a:bodyPr>
          <a:lstStyle/>
          <a:p>
            <a:pPr algn="l" marL="0" indent="0" lvl="0">
              <a:lnSpc>
                <a:spcPts val="8405"/>
              </a:lnSpc>
            </a:pPr>
            <a:r>
              <a:rPr lang="en-US" b="true" sz="8005" spc="-576">
                <a:solidFill>
                  <a:srgbClr val="FFFFFF"/>
                </a:solidFill>
                <a:latin typeface="Poppins Bold"/>
                <a:ea typeface="Poppins Bold"/>
                <a:cs typeface="Poppins Bold"/>
                <a:sym typeface="Poppins Bold"/>
              </a:rPr>
              <a:t>PRAKTIKUM: UPDATE PROJECT DAN BRANCH BARU</a:t>
            </a:r>
          </a:p>
        </p:txBody>
      </p:sp>
      <p:sp>
        <p:nvSpPr>
          <p:cNvPr name="TextBox 6" id="6"/>
          <p:cNvSpPr txBox="true"/>
          <p:nvPr/>
        </p:nvSpPr>
        <p:spPr>
          <a:xfrm rot="0">
            <a:off x="1489463" y="5952709"/>
            <a:ext cx="6622538" cy="791278"/>
          </a:xfrm>
          <a:prstGeom prst="rect">
            <a:avLst/>
          </a:prstGeom>
        </p:spPr>
        <p:txBody>
          <a:bodyPr anchor="t" rtlCol="false" tIns="0" lIns="0" bIns="0" rIns="0">
            <a:spAutoFit/>
          </a:bodyPr>
          <a:lstStyle/>
          <a:p>
            <a:pPr algn="l" marL="0" indent="0" lvl="0">
              <a:lnSpc>
                <a:spcPts val="3024"/>
              </a:lnSpc>
              <a:spcBef>
                <a:spcPct val="0"/>
              </a:spcBef>
            </a:pPr>
            <a:r>
              <a:rPr lang="en-US" sz="2880" spc="-221">
                <a:solidFill>
                  <a:srgbClr val="FFFFFF"/>
                </a:solidFill>
                <a:latin typeface="Poppins"/>
                <a:ea typeface="Poppins"/>
                <a:cs typeface="Poppins"/>
                <a:sym typeface="Poppins"/>
              </a:rPr>
              <a:t>Langkah 9–16: Edit File, Commit, Push, Log, dan Checkout Branch Baru</a:t>
            </a:r>
          </a:p>
        </p:txBody>
      </p:sp>
      <p:sp>
        <p:nvSpPr>
          <p:cNvPr name="TextBox 7" id="7"/>
          <p:cNvSpPr txBox="true"/>
          <p:nvPr/>
        </p:nvSpPr>
        <p:spPr>
          <a:xfrm rot="0">
            <a:off x="1489463" y="7408713"/>
            <a:ext cx="6711990" cy="1238567"/>
          </a:xfrm>
          <a:prstGeom prst="rect">
            <a:avLst/>
          </a:prstGeom>
        </p:spPr>
        <p:txBody>
          <a:bodyPr anchor="t" rtlCol="false" tIns="0" lIns="0" bIns="0" rIns="0">
            <a:spAutoFit/>
          </a:bodyPr>
          <a:lstStyle/>
          <a:p>
            <a:pPr algn="l" marL="0" indent="0" lvl="0">
              <a:lnSpc>
                <a:spcPts val="2465"/>
              </a:lnSpc>
              <a:spcBef>
                <a:spcPct val="0"/>
              </a:spcBef>
            </a:pPr>
            <a:r>
              <a:rPr lang="en-US" sz="1761">
                <a:solidFill>
                  <a:srgbClr val="FFFFFF"/>
                </a:solidFill>
                <a:latin typeface="Poppins"/>
                <a:ea typeface="Poppins"/>
                <a:cs typeface="Poppins"/>
                <a:sym typeface="Poppins"/>
              </a:rPr>
              <a:t>git status → git add . → git commit -m "Update README" → git push → git log → git checkout -b feature-pertemuan-0 → git branch → git push --set-upstream origin feature-pertemuan-0 → git checkout main</a:t>
            </a:r>
          </a:p>
        </p:txBody>
      </p:sp>
      <p:sp>
        <p:nvSpPr>
          <p:cNvPr name="TextBox 8" id="8"/>
          <p:cNvSpPr txBox="true"/>
          <p:nvPr/>
        </p:nvSpPr>
        <p:spPr>
          <a:xfrm rot="0">
            <a:off x="13544821" y="1368864"/>
            <a:ext cx="3382506" cy="2085673"/>
          </a:xfrm>
          <a:prstGeom prst="rect">
            <a:avLst/>
          </a:prstGeom>
        </p:spPr>
        <p:txBody>
          <a:bodyPr anchor="t" rtlCol="false" tIns="0" lIns="0" bIns="0" rIns="0">
            <a:spAutoFit/>
          </a:bodyPr>
          <a:lstStyle/>
          <a:p>
            <a:pPr algn="l" marL="0" indent="0" lvl="0">
              <a:lnSpc>
                <a:spcPts val="2362"/>
              </a:lnSpc>
              <a:spcBef>
                <a:spcPct val="0"/>
              </a:spcBef>
            </a:pPr>
            <a:r>
              <a:rPr lang="en-US" sz="1687">
                <a:solidFill>
                  <a:srgbClr val="FFFFFF"/>
                </a:solidFill>
                <a:latin typeface="Poppins"/>
                <a:ea typeface="Poppins"/>
                <a:cs typeface="Poppins"/>
                <a:sym typeface="Poppins"/>
              </a:rPr>
              <a:t>Edit README.md: tambahkan teks "Pertemuan 0 HackLab" dan "Belajar Git dan GitHub", lalu lakukan commit dan push. Buat branch baru feature-pertemuan-0 dan sinkronisasi ke GitHub.</a:t>
            </a:r>
          </a:p>
        </p:txBody>
      </p:sp>
      <p:sp>
        <p:nvSpPr>
          <p:cNvPr name="Freeform 9" id="9"/>
          <p:cNvSpPr/>
          <p:nvPr/>
        </p:nvSpPr>
        <p:spPr>
          <a:xfrm flipH="false" flipV="false" rot="0">
            <a:off x="9144000" y="3423643"/>
            <a:ext cx="4611321" cy="4628151"/>
          </a:xfrm>
          <a:custGeom>
            <a:avLst/>
            <a:gdLst/>
            <a:ahLst/>
            <a:cxnLst/>
            <a:rect r="r" b="b" t="t" l="l"/>
            <a:pathLst>
              <a:path h="4628151" w="4611321">
                <a:moveTo>
                  <a:pt x="0" y="0"/>
                </a:moveTo>
                <a:lnTo>
                  <a:pt x="4611321" y="0"/>
                </a:lnTo>
                <a:lnTo>
                  <a:pt x="4611321" y="4628151"/>
                </a:lnTo>
                <a:lnTo>
                  <a:pt x="0" y="4628151"/>
                </a:lnTo>
                <a:lnTo>
                  <a:pt x="0" y="0"/>
                </a:lnTo>
                <a:close/>
              </a:path>
            </a:pathLst>
          </a:custGeom>
          <a:blipFill>
            <a:blip r:embed="rId2"/>
            <a:stretch>
              <a:fillRect l="0" t="0" r="0" b="0"/>
            </a:stretch>
          </a:blipFill>
        </p:spPr>
      </p:sp>
      <p:grpSp>
        <p:nvGrpSpPr>
          <p:cNvPr name="Group 10" id="10"/>
          <p:cNvGrpSpPr/>
          <p:nvPr/>
        </p:nvGrpSpPr>
        <p:grpSpPr>
          <a:xfrm rot="0">
            <a:off x="9399749" y="3687807"/>
            <a:ext cx="4099823" cy="409982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9753593" y="4041651"/>
            <a:ext cx="3392136" cy="339213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a:ln w="66675" cap="sq">
              <a:solidFill>
                <a:srgbClr val="FFFFFF"/>
              </a:solidFill>
              <a:prstDash val="solid"/>
              <a:miter/>
            </a:ln>
          </p:spPr>
        </p:sp>
      </p:grpSp>
      <p:sp>
        <p:nvSpPr>
          <p:cNvPr name="Freeform 15" id="15"/>
          <p:cNvSpPr/>
          <p:nvPr/>
        </p:nvSpPr>
        <p:spPr>
          <a:xfrm flipH="false" flipV="false" rot="0">
            <a:off x="12820123" y="5143500"/>
            <a:ext cx="6989408" cy="7014917"/>
          </a:xfrm>
          <a:custGeom>
            <a:avLst/>
            <a:gdLst/>
            <a:ahLst/>
            <a:cxnLst/>
            <a:rect r="r" b="b" t="t" l="l"/>
            <a:pathLst>
              <a:path h="7014917" w="6989408">
                <a:moveTo>
                  <a:pt x="0" y="0"/>
                </a:moveTo>
                <a:lnTo>
                  <a:pt x="6989408" y="0"/>
                </a:lnTo>
                <a:lnTo>
                  <a:pt x="6989408" y="7014917"/>
                </a:lnTo>
                <a:lnTo>
                  <a:pt x="0" y="7014917"/>
                </a:lnTo>
                <a:lnTo>
                  <a:pt x="0" y="0"/>
                </a:lnTo>
                <a:close/>
              </a:path>
            </a:pathLst>
          </a:custGeom>
          <a:blipFill>
            <a:blip r:embed="rId2"/>
            <a:stretch>
              <a:fillRect l="0" t="0" r="0" b="0"/>
            </a:stretch>
          </a:blipFill>
        </p:spPr>
      </p:sp>
      <p:grpSp>
        <p:nvGrpSpPr>
          <p:cNvPr name="Group 16" id="16"/>
          <p:cNvGrpSpPr/>
          <p:nvPr/>
        </p:nvGrpSpPr>
        <p:grpSpPr>
          <a:xfrm rot="0">
            <a:off x="13207763" y="5543895"/>
            <a:ext cx="6214128" cy="621412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13744086" y="6080218"/>
            <a:ext cx="5141481" cy="51414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66675" cap="sq">
              <a:solidFill>
                <a:srgbClr val="FFFFFF"/>
              </a:solidFill>
              <a:prstDash val="solid"/>
              <a:miter/>
            </a:ln>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09590">
                <a:alpha val="100000"/>
              </a:srgbClr>
            </a:gs>
            <a:gs pos="100000">
              <a:srgbClr val="0B345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028700" y="8131307"/>
            <a:ext cx="13554186" cy="3086100"/>
            <a:chOff x="0" y="0"/>
            <a:chExt cx="3569827" cy="812800"/>
          </a:xfrm>
        </p:grpSpPr>
        <p:sp>
          <p:nvSpPr>
            <p:cNvPr name="Freeform 3" id="3"/>
            <p:cNvSpPr/>
            <p:nvPr/>
          </p:nvSpPr>
          <p:spPr>
            <a:xfrm flipH="false" flipV="false" rot="0">
              <a:off x="0" y="0"/>
              <a:ext cx="3569827" cy="812800"/>
            </a:xfrm>
            <a:custGeom>
              <a:avLst/>
              <a:gdLst/>
              <a:ahLst/>
              <a:cxnLst/>
              <a:rect r="r" b="b" t="t" l="l"/>
              <a:pathLst>
                <a:path h="812800" w="3569827">
                  <a:moveTo>
                    <a:pt x="25132" y="0"/>
                  </a:moveTo>
                  <a:lnTo>
                    <a:pt x="3544694" y="0"/>
                  </a:lnTo>
                  <a:cubicBezTo>
                    <a:pt x="3558575" y="0"/>
                    <a:pt x="3569827" y="11252"/>
                    <a:pt x="3569827" y="25132"/>
                  </a:cubicBezTo>
                  <a:lnTo>
                    <a:pt x="3569827" y="787668"/>
                  </a:lnTo>
                  <a:cubicBezTo>
                    <a:pt x="3569827" y="801548"/>
                    <a:pt x="3558575" y="812800"/>
                    <a:pt x="3544694" y="812800"/>
                  </a:cubicBezTo>
                  <a:lnTo>
                    <a:pt x="25132" y="812800"/>
                  </a:lnTo>
                  <a:cubicBezTo>
                    <a:pt x="11252" y="812800"/>
                    <a:pt x="0" y="801548"/>
                    <a:pt x="0" y="787668"/>
                  </a:cubicBezTo>
                  <a:lnTo>
                    <a:pt x="0" y="25132"/>
                  </a:lnTo>
                  <a:cubicBezTo>
                    <a:pt x="0" y="11252"/>
                    <a:pt x="11252" y="0"/>
                    <a:pt x="25132" y="0"/>
                  </a:cubicBezTo>
                  <a:close/>
                </a:path>
              </a:pathLst>
            </a:custGeom>
            <a:solidFill>
              <a:srgbClr val="FFFFFF"/>
            </a:solidFill>
          </p:spPr>
        </p:sp>
        <p:sp>
          <p:nvSpPr>
            <p:cNvPr name="TextBox 4" id="4"/>
            <p:cNvSpPr txBox="true"/>
            <p:nvPr/>
          </p:nvSpPr>
          <p:spPr>
            <a:xfrm>
              <a:off x="0" y="-38100"/>
              <a:ext cx="3569827" cy="8509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10800000">
            <a:off x="-544827" y="7109723"/>
            <a:ext cx="6251202" cy="539260"/>
            <a:chOff x="0" y="0"/>
            <a:chExt cx="1646407" cy="142027"/>
          </a:xfrm>
        </p:grpSpPr>
        <p:sp>
          <p:nvSpPr>
            <p:cNvPr name="Freeform 6" id="6"/>
            <p:cNvSpPr/>
            <p:nvPr/>
          </p:nvSpPr>
          <p:spPr>
            <a:xfrm flipH="false" flipV="false" rot="0">
              <a:off x="0" y="0"/>
              <a:ext cx="1646407" cy="142027"/>
            </a:xfrm>
            <a:custGeom>
              <a:avLst/>
              <a:gdLst/>
              <a:ahLst/>
              <a:cxnLst/>
              <a:rect r="r" b="b" t="t" l="l"/>
              <a:pathLst>
                <a:path h="142027" w="1646407">
                  <a:moveTo>
                    <a:pt x="71014" y="0"/>
                  </a:moveTo>
                  <a:lnTo>
                    <a:pt x="1575394" y="0"/>
                  </a:lnTo>
                  <a:cubicBezTo>
                    <a:pt x="1614613" y="0"/>
                    <a:pt x="1646407" y="31794"/>
                    <a:pt x="1646407" y="71014"/>
                  </a:cubicBezTo>
                  <a:lnTo>
                    <a:pt x="1646407" y="71014"/>
                  </a:lnTo>
                  <a:cubicBezTo>
                    <a:pt x="1646407" y="89848"/>
                    <a:pt x="1638926" y="107910"/>
                    <a:pt x="1625608" y="121228"/>
                  </a:cubicBezTo>
                  <a:cubicBezTo>
                    <a:pt x="1612290" y="134546"/>
                    <a:pt x="1594228" y="142027"/>
                    <a:pt x="1575394" y="142027"/>
                  </a:cubicBezTo>
                  <a:lnTo>
                    <a:pt x="71014" y="142027"/>
                  </a:lnTo>
                  <a:cubicBezTo>
                    <a:pt x="31794" y="142027"/>
                    <a:pt x="0" y="110233"/>
                    <a:pt x="0" y="71014"/>
                  </a:cubicBezTo>
                  <a:lnTo>
                    <a:pt x="0" y="71014"/>
                  </a:lnTo>
                  <a:cubicBezTo>
                    <a:pt x="0" y="31794"/>
                    <a:pt x="31794" y="0"/>
                    <a:pt x="71014" y="0"/>
                  </a:cubicBezTo>
                  <a:close/>
                </a:path>
              </a:pathLst>
            </a:custGeom>
            <a:solidFill>
              <a:srgbClr val="01B7AA"/>
            </a:solidFill>
          </p:spPr>
        </p:sp>
        <p:sp>
          <p:nvSpPr>
            <p:cNvPr name="TextBox 7" id="7"/>
            <p:cNvSpPr txBox="true"/>
            <p:nvPr/>
          </p:nvSpPr>
          <p:spPr>
            <a:xfrm>
              <a:off x="0" y="38100"/>
              <a:ext cx="1646407" cy="103927"/>
            </a:xfrm>
            <a:prstGeom prst="rect">
              <a:avLst/>
            </a:prstGeom>
          </p:spPr>
          <p:txBody>
            <a:bodyPr anchor="ctr" rtlCol="false" tIns="50800" lIns="50800" bIns="50800" rIns="50800"/>
            <a:lstStyle/>
            <a:p>
              <a:pPr algn="ctr" marL="0" indent="0" lvl="0">
                <a:lnSpc>
                  <a:spcPts val="2789"/>
                </a:lnSpc>
              </a:pPr>
            </a:p>
          </p:txBody>
        </p:sp>
      </p:grpSp>
      <p:sp>
        <p:nvSpPr>
          <p:cNvPr name="Freeform 8" id="8"/>
          <p:cNvSpPr/>
          <p:nvPr/>
        </p:nvSpPr>
        <p:spPr>
          <a:xfrm flipH="false" flipV="false" rot="0">
            <a:off x="1771773" y="1470966"/>
            <a:ext cx="598081" cy="407783"/>
          </a:xfrm>
          <a:custGeom>
            <a:avLst/>
            <a:gdLst/>
            <a:ahLst/>
            <a:cxnLst/>
            <a:rect r="r" b="b" t="t" l="l"/>
            <a:pathLst>
              <a:path h="407783" w="598081">
                <a:moveTo>
                  <a:pt x="0" y="0"/>
                </a:moveTo>
                <a:lnTo>
                  <a:pt x="598081" y="0"/>
                </a:lnTo>
                <a:lnTo>
                  <a:pt x="598081" y="407783"/>
                </a:lnTo>
                <a:lnTo>
                  <a:pt x="0" y="40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71773" y="8459494"/>
            <a:ext cx="512635" cy="512635"/>
          </a:xfrm>
          <a:custGeom>
            <a:avLst/>
            <a:gdLst/>
            <a:ahLst/>
            <a:cxnLst/>
            <a:rect r="r" b="b" t="t" l="l"/>
            <a:pathLst>
              <a:path h="512635" w="512635">
                <a:moveTo>
                  <a:pt x="0" y="0"/>
                </a:moveTo>
                <a:lnTo>
                  <a:pt x="512635" y="0"/>
                </a:lnTo>
                <a:lnTo>
                  <a:pt x="512635" y="512636"/>
                </a:lnTo>
                <a:lnTo>
                  <a:pt x="0" y="5126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487047" y="8459494"/>
            <a:ext cx="512635" cy="512635"/>
          </a:xfrm>
          <a:custGeom>
            <a:avLst/>
            <a:gdLst/>
            <a:ahLst/>
            <a:cxnLst/>
            <a:rect r="r" b="b" t="t" l="l"/>
            <a:pathLst>
              <a:path h="512635" w="512635">
                <a:moveTo>
                  <a:pt x="0" y="0"/>
                </a:moveTo>
                <a:lnTo>
                  <a:pt x="512636" y="0"/>
                </a:lnTo>
                <a:lnTo>
                  <a:pt x="512636" y="512636"/>
                </a:lnTo>
                <a:lnTo>
                  <a:pt x="0" y="5126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10800000">
            <a:off x="3492511" y="8432869"/>
            <a:ext cx="2712485" cy="539260"/>
            <a:chOff x="0" y="0"/>
            <a:chExt cx="714399" cy="142027"/>
          </a:xfrm>
        </p:grpSpPr>
        <p:sp>
          <p:nvSpPr>
            <p:cNvPr name="Freeform 12" id="12"/>
            <p:cNvSpPr/>
            <p:nvPr/>
          </p:nvSpPr>
          <p:spPr>
            <a:xfrm flipH="false" flipV="false" rot="0">
              <a:off x="0" y="0"/>
              <a:ext cx="714399" cy="142027"/>
            </a:xfrm>
            <a:custGeom>
              <a:avLst/>
              <a:gdLst/>
              <a:ahLst/>
              <a:cxnLst/>
              <a:rect r="r" b="b" t="t" l="l"/>
              <a:pathLst>
                <a:path h="142027" w="714399">
                  <a:moveTo>
                    <a:pt x="71014" y="0"/>
                  </a:moveTo>
                  <a:lnTo>
                    <a:pt x="643386" y="0"/>
                  </a:lnTo>
                  <a:cubicBezTo>
                    <a:pt x="662220" y="0"/>
                    <a:pt x="680282" y="7482"/>
                    <a:pt x="693600" y="20799"/>
                  </a:cubicBezTo>
                  <a:cubicBezTo>
                    <a:pt x="706918" y="34117"/>
                    <a:pt x="714399" y="52180"/>
                    <a:pt x="714399" y="71014"/>
                  </a:cubicBezTo>
                  <a:lnTo>
                    <a:pt x="714399" y="71014"/>
                  </a:lnTo>
                  <a:cubicBezTo>
                    <a:pt x="714399" y="110233"/>
                    <a:pt x="682606" y="142027"/>
                    <a:pt x="643386" y="142027"/>
                  </a:cubicBezTo>
                  <a:lnTo>
                    <a:pt x="71014" y="142027"/>
                  </a:lnTo>
                  <a:cubicBezTo>
                    <a:pt x="31794" y="142027"/>
                    <a:pt x="0" y="110233"/>
                    <a:pt x="0" y="71014"/>
                  </a:cubicBezTo>
                  <a:lnTo>
                    <a:pt x="0" y="71014"/>
                  </a:lnTo>
                  <a:cubicBezTo>
                    <a:pt x="0" y="31794"/>
                    <a:pt x="31794" y="0"/>
                    <a:pt x="71014" y="0"/>
                  </a:cubicBezTo>
                  <a:close/>
                </a:path>
              </a:pathLst>
            </a:custGeom>
            <a:solidFill>
              <a:srgbClr val="01B7AA"/>
            </a:solidFill>
          </p:spPr>
        </p:sp>
        <p:sp>
          <p:nvSpPr>
            <p:cNvPr name="TextBox 13" id="13"/>
            <p:cNvSpPr txBox="true"/>
            <p:nvPr/>
          </p:nvSpPr>
          <p:spPr>
            <a:xfrm>
              <a:off x="0" y="38100"/>
              <a:ext cx="714399" cy="103927"/>
            </a:xfrm>
            <a:prstGeom prst="rect">
              <a:avLst/>
            </a:prstGeom>
          </p:spPr>
          <p:txBody>
            <a:bodyPr anchor="ctr" rtlCol="false" tIns="50800" lIns="50800" bIns="50800" rIns="50800"/>
            <a:lstStyle/>
            <a:p>
              <a:pPr algn="ctr" marL="0" indent="0" lvl="0">
                <a:lnSpc>
                  <a:spcPts val="2789"/>
                </a:lnSpc>
              </a:pPr>
            </a:p>
          </p:txBody>
        </p:sp>
      </p:grpSp>
      <p:grpSp>
        <p:nvGrpSpPr>
          <p:cNvPr name="Group 14" id="14"/>
          <p:cNvGrpSpPr/>
          <p:nvPr/>
        </p:nvGrpSpPr>
        <p:grpSpPr>
          <a:xfrm rot="-10800000">
            <a:off x="6320570" y="8446182"/>
            <a:ext cx="4073003" cy="525948"/>
            <a:chOff x="0" y="0"/>
            <a:chExt cx="1072725" cy="138521"/>
          </a:xfrm>
        </p:grpSpPr>
        <p:sp>
          <p:nvSpPr>
            <p:cNvPr name="Freeform 15" id="15"/>
            <p:cNvSpPr/>
            <p:nvPr/>
          </p:nvSpPr>
          <p:spPr>
            <a:xfrm flipH="false" flipV="false" rot="0">
              <a:off x="0" y="0"/>
              <a:ext cx="1072725" cy="138521"/>
            </a:xfrm>
            <a:custGeom>
              <a:avLst/>
              <a:gdLst/>
              <a:ahLst/>
              <a:cxnLst/>
              <a:rect r="r" b="b" t="t" l="l"/>
              <a:pathLst>
                <a:path h="138521" w="1072725">
                  <a:moveTo>
                    <a:pt x="69261" y="0"/>
                  </a:moveTo>
                  <a:lnTo>
                    <a:pt x="1003464" y="0"/>
                  </a:lnTo>
                  <a:cubicBezTo>
                    <a:pt x="1021833" y="0"/>
                    <a:pt x="1039450" y="7297"/>
                    <a:pt x="1052439" y="20286"/>
                  </a:cubicBezTo>
                  <a:cubicBezTo>
                    <a:pt x="1065428" y="33275"/>
                    <a:pt x="1072725" y="50892"/>
                    <a:pt x="1072725" y="69261"/>
                  </a:cubicBezTo>
                  <a:lnTo>
                    <a:pt x="1072725" y="69261"/>
                  </a:lnTo>
                  <a:cubicBezTo>
                    <a:pt x="1072725" y="87630"/>
                    <a:pt x="1065428" y="105246"/>
                    <a:pt x="1052439" y="118235"/>
                  </a:cubicBezTo>
                  <a:cubicBezTo>
                    <a:pt x="1039450" y="131224"/>
                    <a:pt x="1021833" y="138521"/>
                    <a:pt x="1003464" y="138521"/>
                  </a:cubicBezTo>
                  <a:lnTo>
                    <a:pt x="69261" y="138521"/>
                  </a:lnTo>
                  <a:cubicBezTo>
                    <a:pt x="50892" y="138521"/>
                    <a:pt x="33275" y="131224"/>
                    <a:pt x="20286" y="118235"/>
                  </a:cubicBezTo>
                  <a:cubicBezTo>
                    <a:pt x="7297" y="105246"/>
                    <a:pt x="0" y="87630"/>
                    <a:pt x="0" y="69261"/>
                  </a:cubicBezTo>
                  <a:lnTo>
                    <a:pt x="0" y="69261"/>
                  </a:lnTo>
                  <a:cubicBezTo>
                    <a:pt x="0" y="50892"/>
                    <a:pt x="7297" y="33275"/>
                    <a:pt x="20286" y="20286"/>
                  </a:cubicBezTo>
                  <a:cubicBezTo>
                    <a:pt x="33275" y="7297"/>
                    <a:pt x="50892" y="0"/>
                    <a:pt x="69261" y="0"/>
                  </a:cubicBezTo>
                  <a:close/>
                </a:path>
              </a:pathLst>
            </a:custGeom>
            <a:solidFill>
              <a:srgbClr val="01B7AA"/>
            </a:solidFill>
          </p:spPr>
        </p:sp>
        <p:sp>
          <p:nvSpPr>
            <p:cNvPr name="TextBox 16" id="16"/>
            <p:cNvSpPr txBox="true"/>
            <p:nvPr/>
          </p:nvSpPr>
          <p:spPr>
            <a:xfrm>
              <a:off x="0" y="38100"/>
              <a:ext cx="1072725" cy="100421"/>
            </a:xfrm>
            <a:prstGeom prst="rect">
              <a:avLst/>
            </a:prstGeom>
          </p:spPr>
          <p:txBody>
            <a:bodyPr anchor="ctr" rtlCol="false" tIns="50800" lIns="50800" bIns="50800" rIns="50800"/>
            <a:lstStyle/>
            <a:p>
              <a:pPr algn="ctr" marL="0" indent="0" lvl="0">
                <a:lnSpc>
                  <a:spcPts val="2789"/>
                </a:lnSpc>
              </a:pPr>
            </a:p>
          </p:txBody>
        </p:sp>
      </p:grpSp>
      <p:sp>
        <p:nvSpPr>
          <p:cNvPr name="TextBox 17" id="17"/>
          <p:cNvSpPr txBox="true"/>
          <p:nvPr/>
        </p:nvSpPr>
        <p:spPr>
          <a:xfrm rot="0">
            <a:off x="1771773" y="2135924"/>
            <a:ext cx="8621800" cy="2314263"/>
          </a:xfrm>
          <a:prstGeom prst="rect">
            <a:avLst/>
          </a:prstGeom>
        </p:spPr>
        <p:txBody>
          <a:bodyPr anchor="t" rtlCol="false" tIns="0" lIns="0" bIns="0" rIns="0">
            <a:spAutoFit/>
          </a:bodyPr>
          <a:lstStyle/>
          <a:p>
            <a:pPr algn="l" marL="0" indent="0" lvl="0">
              <a:lnSpc>
                <a:spcPts val="8702"/>
              </a:lnSpc>
            </a:pPr>
            <a:r>
              <a:rPr lang="en-US" b="true" sz="8288" spc="-596">
                <a:solidFill>
                  <a:srgbClr val="FFFFFF"/>
                </a:solidFill>
                <a:latin typeface="Poppins Bold"/>
                <a:ea typeface="Poppins Bold"/>
                <a:cs typeface="Poppins Bold"/>
                <a:sym typeface="Poppins Bold"/>
              </a:rPr>
              <a:t>KESIMPULAN &amp; PENUTUP</a:t>
            </a:r>
          </a:p>
        </p:txBody>
      </p:sp>
      <p:sp>
        <p:nvSpPr>
          <p:cNvPr name="TextBox 18" id="18"/>
          <p:cNvSpPr txBox="true"/>
          <p:nvPr/>
        </p:nvSpPr>
        <p:spPr>
          <a:xfrm rot="0">
            <a:off x="1771773" y="5660965"/>
            <a:ext cx="6640145" cy="858663"/>
          </a:xfrm>
          <a:prstGeom prst="rect">
            <a:avLst/>
          </a:prstGeom>
        </p:spPr>
        <p:txBody>
          <a:bodyPr anchor="t" rtlCol="false" tIns="0" lIns="0" bIns="0" rIns="0">
            <a:spAutoFit/>
          </a:bodyPr>
          <a:lstStyle/>
          <a:p>
            <a:pPr algn="l" marL="0" indent="0" lvl="0">
              <a:lnSpc>
                <a:spcPts val="2177"/>
              </a:lnSpc>
              <a:spcBef>
                <a:spcPct val="0"/>
              </a:spcBef>
            </a:pPr>
            <a:r>
              <a:rPr lang="en-US" sz="2074" spc="-159">
                <a:solidFill>
                  <a:srgbClr val="FFFFFF"/>
                </a:solidFill>
                <a:latin typeface="Poppins"/>
                <a:ea typeface="Poppins"/>
                <a:cs typeface="Poppins"/>
                <a:sym typeface="Poppins"/>
              </a:rPr>
              <a:t>Git = alat mengelola perubahan project. GitHub = platform menyimpan repository online. Pahami konsep dasar: repository, commit, branch, push, pull.</a:t>
            </a:r>
          </a:p>
        </p:txBody>
      </p:sp>
      <p:sp>
        <p:nvSpPr>
          <p:cNvPr name="TextBox 19" id="19"/>
          <p:cNvSpPr txBox="true"/>
          <p:nvPr/>
        </p:nvSpPr>
        <p:spPr>
          <a:xfrm rot="0">
            <a:off x="1771773" y="7175169"/>
            <a:ext cx="4215331" cy="358811"/>
          </a:xfrm>
          <a:prstGeom prst="rect">
            <a:avLst/>
          </a:prstGeom>
        </p:spPr>
        <p:txBody>
          <a:bodyPr anchor="t" rtlCol="false" tIns="0" lIns="0" bIns="0" rIns="0">
            <a:spAutoFit/>
          </a:bodyPr>
          <a:lstStyle/>
          <a:p>
            <a:pPr algn="l" marL="0" indent="0" lvl="0">
              <a:lnSpc>
                <a:spcPts val="2798"/>
              </a:lnSpc>
              <a:spcBef>
                <a:spcPct val="0"/>
              </a:spcBef>
            </a:pPr>
            <a:r>
              <a:rPr lang="en-US" sz="1998" spc="-39">
                <a:solidFill>
                  <a:srgbClr val="FFFFFF"/>
                </a:solidFill>
                <a:latin typeface="Poppins"/>
                <a:ea typeface="Poppins"/>
                <a:cs typeface="Poppins"/>
                <a:sym typeface="Poppins"/>
              </a:rPr>
              <a:t>Terima Kasih! Ada Pertanyaan?</a:t>
            </a:r>
          </a:p>
        </p:txBody>
      </p:sp>
      <p:sp>
        <p:nvSpPr>
          <p:cNvPr name="TextBox 20" id="20"/>
          <p:cNvSpPr txBox="true"/>
          <p:nvPr/>
        </p:nvSpPr>
        <p:spPr>
          <a:xfrm rot="0">
            <a:off x="2580774" y="1594697"/>
            <a:ext cx="2262112" cy="273167"/>
          </a:xfrm>
          <a:prstGeom prst="rect">
            <a:avLst/>
          </a:prstGeom>
        </p:spPr>
        <p:txBody>
          <a:bodyPr anchor="t" rtlCol="false" tIns="0" lIns="0" bIns="0" rIns="0">
            <a:spAutoFit/>
          </a:bodyPr>
          <a:lstStyle/>
          <a:p>
            <a:pPr algn="l" marL="0" indent="0" lvl="0">
              <a:lnSpc>
                <a:spcPts val="1974"/>
              </a:lnSpc>
              <a:spcBef>
                <a:spcPct val="0"/>
              </a:spcBef>
            </a:pPr>
            <a:r>
              <a:rPr lang="en-US" sz="1880" spc="-144">
                <a:solidFill>
                  <a:srgbClr val="FFFFFF"/>
                </a:solidFill>
                <a:latin typeface="Poppins"/>
                <a:ea typeface="Poppins"/>
                <a:cs typeface="Poppins"/>
                <a:sym typeface="Poppins"/>
              </a:rPr>
              <a:t>Git &amp; GitHub Dasar</a:t>
            </a:r>
          </a:p>
        </p:txBody>
      </p:sp>
      <p:sp>
        <p:nvSpPr>
          <p:cNvPr name="TextBox 21" id="21"/>
          <p:cNvSpPr txBox="true"/>
          <p:nvPr/>
        </p:nvSpPr>
        <p:spPr>
          <a:xfrm rot="0">
            <a:off x="3535174" y="8507850"/>
            <a:ext cx="2627160" cy="358811"/>
          </a:xfrm>
          <a:prstGeom prst="rect">
            <a:avLst/>
          </a:prstGeom>
        </p:spPr>
        <p:txBody>
          <a:bodyPr anchor="t" rtlCol="false" tIns="0" lIns="0" bIns="0" rIns="0">
            <a:spAutoFit/>
          </a:bodyPr>
          <a:lstStyle/>
          <a:p>
            <a:pPr algn="ctr" marL="0" indent="0" lvl="0">
              <a:lnSpc>
                <a:spcPts val="2798"/>
              </a:lnSpc>
              <a:spcBef>
                <a:spcPct val="0"/>
              </a:spcBef>
            </a:pPr>
            <a:r>
              <a:rPr lang="en-US" sz="1998" spc="-39">
                <a:solidFill>
                  <a:srgbClr val="FFFFFF"/>
                </a:solidFill>
                <a:latin typeface="Poppins"/>
                <a:ea typeface="Poppins"/>
                <a:cs typeface="Poppins"/>
                <a:sym typeface="Poppins"/>
              </a:rPr>
              <a:t>62-819-9977-3020</a:t>
            </a:r>
          </a:p>
        </p:txBody>
      </p:sp>
      <p:sp>
        <p:nvSpPr>
          <p:cNvPr name="TextBox 22" id="22"/>
          <p:cNvSpPr txBox="true"/>
          <p:nvPr/>
        </p:nvSpPr>
        <p:spPr>
          <a:xfrm rot="0">
            <a:off x="6486442" y="8494537"/>
            <a:ext cx="3741259" cy="358811"/>
          </a:xfrm>
          <a:prstGeom prst="rect">
            <a:avLst/>
          </a:prstGeom>
        </p:spPr>
        <p:txBody>
          <a:bodyPr anchor="t" rtlCol="false" tIns="0" lIns="0" bIns="0" rIns="0">
            <a:spAutoFit/>
          </a:bodyPr>
          <a:lstStyle/>
          <a:p>
            <a:pPr algn="ctr" marL="0" indent="0" lvl="0">
              <a:lnSpc>
                <a:spcPts val="2798"/>
              </a:lnSpc>
              <a:spcBef>
                <a:spcPct val="0"/>
              </a:spcBef>
            </a:pPr>
            <a:r>
              <a:rPr lang="en-US" sz="1998" spc="-39">
                <a:solidFill>
                  <a:srgbClr val="FFFFFF"/>
                </a:solidFill>
                <a:latin typeface="Poppins"/>
                <a:ea typeface="Poppins"/>
                <a:cs typeface="Poppins"/>
                <a:sym typeface="Poppins"/>
              </a:rPr>
              <a:t>www.situssupercanggih.co.id</a:t>
            </a:r>
          </a:p>
        </p:txBody>
      </p:sp>
      <p:sp>
        <p:nvSpPr>
          <p:cNvPr name="Freeform 23" id="23"/>
          <p:cNvSpPr/>
          <p:nvPr/>
        </p:nvSpPr>
        <p:spPr>
          <a:xfrm flipH="false" flipV="false" rot="0">
            <a:off x="7805793" y="6524004"/>
            <a:ext cx="1736540" cy="950361"/>
          </a:xfrm>
          <a:custGeom>
            <a:avLst/>
            <a:gdLst/>
            <a:ahLst/>
            <a:cxnLst/>
            <a:rect r="r" b="b" t="t" l="l"/>
            <a:pathLst>
              <a:path h="950361" w="1736540">
                <a:moveTo>
                  <a:pt x="0" y="0"/>
                </a:moveTo>
                <a:lnTo>
                  <a:pt x="1736540" y="0"/>
                </a:lnTo>
                <a:lnTo>
                  <a:pt x="1736540" y="950361"/>
                </a:lnTo>
                <a:lnTo>
                  <a:pt x="0" y="9503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4" id="24"/>
          <p:cNvGrpSpPr/>
          <p:nvPr/>
        </p:nvGrpSpPr>
        <p:grpSpPr>
          <a:xfrm rot="0">
            <a:off x="10456244" y="-1738160"/>
            <a:ext cx="9869468" cy="986946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7" id="27"/>
          <p:cNvGrpSpPr/>
          <p:nvPr/>
        </p:nvGrpSpPr>
        <p:grpSpPr>
          <a:xfrm rot="0">
            <a:off x="10938568" y="-1255836"/>
            <a:ext cx="8904819" cy="8904819"/>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0" r="0" b="0"/>
              </a:stretch>
            </a:blipFill>
          </p:spPr>
        </p:sp>
      </p:grpSp>
      <p:grpSp>
        <p:nvGrpSpPr>
          <p:cNvPr name="Group 29" id="29"/>
          <p:cNvGrpSpPr/>
          <p:nvPr/>
        </p:nvGrpSpPr>
        <p:grpSpPr>
          <a:xfrm rot="0">
            <a:off x="10726948" y="4985847"/>
            <a:ext cx="4787012" cy="4787012"/>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B7AA"/>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32" id="32"/>
          <p:cNvGrpSpPr/>
          <p:nvPr/>
        </p:nvGrpSpPr>
        <p:grpSpPr>
          <a:xfrm rot="0">
            <a:off x="11148580" y="5407479"/>
            <a:ext cx="3943748" cy="3943748"/>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0" r="0" b="0"/>
              </a:stretch>
            </a:blipFill>
            <a:ln w="66675" cap="sq">
              <a:solidFill>
                <a:srgbClr val="FFFFFF"/>
              </a:solidFill>
              <a:prstDash val="solid"/>
              <a:miter/>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DAHMWiyZ-lE</dc:identifier>
  <dcterms:modified xsi:type="dcterms:W3CDTF">2011-08-01T06:04:30Z</dcterms:modified>
  <cp:revision>1</cp:revision>
  <dc:title>Git &amp; GitHub Dasar: Ringkasan VCS Pengantar</dc:title>
</cp:coreProperties>
</file>